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12192000"/>
  <p:embeddedFontLst>
    <p:embeddedFont>
      <p:font typeface="Inter"/>
      <p:regular r:id="rId46"/>
      <p:bold r:id="rId47"/>
      <p:italic r:id="rId48"/>
      <p:boldItalic r:id="rId49"/>
    </p:embeddedFont>
    <p:embeddedFont>
      <p:font typeface="Manrope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Inter-regular.fntdata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Manrope-bold.fntdata"/><Relationship Id="rId50" Type="http://schemas.openxmlformats.org/officeDocument/2006/relationships/font" Target="fonts/Manrope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6" name="Google Shape;77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3" name="Google Shape;82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3" name="Google Shape;86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0" name="Google Shape;900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0" name="Google Shape;93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6" name="Google Shape;946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0" name="Google Shape;98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3" name="Google Shape;1013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0" name="Google Shape;1030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1" name="Google Shape;108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8" name="Google Shape;1128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8" name="Google Shape;116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1" name="Google Shape;1211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2" name="Google Shape;126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0" name="Google Shape;129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1" name="Google Shape;1321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7" name="Google Shape;1337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2" name="Google Shape;1372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4" name="Google Shape;1414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1" name="Google Shape;1441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60409" y="622200"/>
            <a:ext cx="1412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RAIZ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65101" y="1257300"/>
            <a:ext cx="151139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VISIBILITY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12800" y="1671439"/>
            <a:ext cx="7194550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4000"/>
              <a:buFont typeface="Manrope"/>
              <a:buNone/>
            </a:pPr>
            <a:r>
              <a:rPr b="1" i="0" lang="en-US" sz="4000" u="none" cap="none" strike="noStrike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Beyond the Map Pack: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12800" y="2347020"/>
            <a:ext cx="7194550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4000"/>
              <a:buFont typeface="Manrope"/>
              <a:buNone/>
            </a:pPr>
            <a:r>
              <a:rPr b="1" i="0" lang="en-US" sz="4000" u="none" cap="none" strike="noStrike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Gets Local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12800" y="3022600"/>
            <a:ext cx="7194550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4000"/>
              <a:buFont typeface="Manrope"/>
              <a:buNone/>
            </a:pPr>
            <a:r>
              <a:rPr b="1" i="0" lang="en-US" sz="4000" u="none" cap="none" strike="noStrike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Businesses Named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3698175"/>
            <a:ext cx="4763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4000"/>
              <a:buFont typeface="Manrope"/>
              <a:buNone/>
            </a:pPr>
            <a:r>
              <a:rPr b="1" i="0" lang="en-US" sz="4000" u="none" cap="none" strike="noStrike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by AI.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4449961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What 10,448 local businesses show about who ChatGPT and Google’s AI Overviews recommend.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37700" y="10922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677400" y="23597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045450" y="16637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185150" y="25502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ChatGPT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537700" y="29654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677400" y="35725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750550" y="29654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045450" y="31559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Kyle Sabraw · September 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ONE 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12800" y="10896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The Map and AI Overviews Only Partly Overlap.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2800" y="15294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Two different starting points, so two different numbers.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12800" y="1973957"/>
            <a:ext cx="5194300" cy="2395141"/>
          </a:xfrm>
          <a:prstGeom prst="roundRect">
            <a:avLst>
              <a:gd fmla="val 318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3000" y="2227957"/>
            <a:ext cx="46699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START FROM 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43000" y="2517477"/>
            <a:ext cx="4669917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7500"/>
              <a:buFont typeface="Manrope"/>
              <a:buNone/>
            </a:pPr>
            <a:r>
              <a:rPr b="1" lang="en-US" sz="75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~43%</a:t>
            </a:r>
            <a:endParaRPr sz="7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546177"/>
            <a:ext cx="4669917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of AI Overview-visible businesses are not in the Maps top 10.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84900" y="1973957"/>
            <a:ext cx="5194300" cy="2395141"/>
          </a:xfrm>
          <a:prstGeom prst="roundRect">
            <a:avLst>
              <a:gd fmla="val 318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515100" y="2227957"/>
            <a:ext cx="46699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START FROM THE MAPS TOP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515100" y="2517477"/>
            <a:ext cx="4669917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7500"/>
              <a:buFont typeface="Manrope"/>
              <a:buNone/>
            </a:pPr>
            <a:r>
              <a:rPr b="1" lang="en-US" sz="75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52.2%</a:t>
            </a:r>
            <a:endParaRPr sz="7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15100" y="3546177"/>
            <a:ext cx="4669917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of Maps top-3 businesses are never in AI Overviews.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HOW WE GOT THE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12800" y="1115020"/>
            <a:ext cx="10883392" cy="430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800"/>
              <a:buFont typeface="Manrope"/>
              <a:buNone/>
            </a:pPr>
            <a:r>
              <a:rPr lang="en-US" sz="2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Four Steps From a Search to a Finding.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15975" y="1701304"/>
            <a:ext cx="2501900" cy="2379762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73150" y="1933079"/>
            <a:ext cx="204717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73150" y="2466479"/>
            <a:ext cx="2047176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73150" y="2782689"/>
            <a:ext cx="2047176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25 kinds of local business (locksmiths, urgent care, Chinese restaurants and more) in 50 US cities, in September 2026.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502025" y="1701304"/>
            <a:ext cx="2501900" cy="2379762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759200" y="1933079"/>
            <a:ext cx="204717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759200" y="2466479"/>
            <a:ext cx="2047176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Recorded who was named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759200" y="3022699"/>
            <a:ext cx="2047176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Every business each search returned, matched to one business record.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188075" y="1701304"/>
            <a:ext cx="2501900" cy="2379762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45250" y="1933079"/>
            <a:ext cx="204717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45250" y="2466479"/>
            <a:ext cx="2047176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Looked closer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45250" y="2782689"/>
            <a:ext cx="2047176" cy="87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Profile, reviews, website, links, mentions and social posts for up to 10,448 businesses.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874125" y="1701304"/>
            <a:ext cx="2501900" cy="2379762"/>
          </a:xfrm>
          <a:prstGeom prst="roundRect">
            <a:avLst>
              <a:gd fmla="val 306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131300" y="1933079"/>
            <a:ext cx="204717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131300" y="2466479"/>
            <a:ext cx="2047176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Compared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31300" y="2782689"/>
            <a:ext cx="2047176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How 500+ signals differ between AI-named businesses and the rest.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NICHES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The 25 Niches We Studied.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Picked for high local intent and to span urgent repairs, health, legal and everyday services.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12800" y="1643757"/>
            <a:ext cx="3767733" cy="2758281"/>
          </a:xfrm>
          <a:prstGeom prst="roundRect">
            <a:avLst>
              <a:gd fmla="val 2763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41400" y="1853307"/>
            <a:ext cx="2815583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Home and Property Services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144764" y="1834257"/>
            <a:ext cx="257969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41400" y="2220317"/>
            <a:ext cx="3310533" cy="635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41400" y="2328267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Plumbing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41400" y="2606377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HVAC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041400" y="288448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Roofing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041400" y="316259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Electrician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41400" y="344070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Pest Control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041400" y="371881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Tree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41400" y="399692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Garage Door Repair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785566" y="2328267"/>
            <a:ext cx="1617166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Water Damage Restoration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785566" y="282098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Handyman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785566" y="309909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Locksmith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785566" y="337720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Landscaping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785566" y="365531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House Cleaning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85566" y="3933428"/>
            <a:ext cx="161716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Moving Company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758333" y="1643757"/>
            <a:ext cx="2184400" cy="2758281"/>
          </a:xfrm>
          <a:prstGeom prst="roundRect">
            <a:avLst>
              <a:gd fmla="val 3488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986933" y="1853307"/>
            <a:ext cx="694531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Health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605687" y="1834257"/>
            <a:ext cx="159246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986933" y="2220317"/>
            <a:ext cx="1727200" cy="635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986933" y="2328267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Dentistry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986933" y="2606377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Cosmetic Dentistry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986933" y="2884488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Chiropractic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986933" y="3162598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Optometry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986933" y="3440708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Urgent Care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986933" y="3718818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Med Spa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986933" y="3996928"/>
            <a:ext cx="1779016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Veterinary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20533" y="1643757"/>
            <a:ext cx="2040434" cy="2758281"/>
          </a:xfrm>
          <a:prstGeom prst="roundRect">
            <a:avLst>
              <a:gd fmla="val 373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349133" y="1853307"/>
            <a:ext cx="57189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Legal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814197" y="1834257"/>
            <a:ext cx="16897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49133" y="2220317"/>
            <a:ext cx="1583234" cy="635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349133" y="2328267"/>
            <a:ext cx="163403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Personal Injury Law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349133" y="2606377"/>
            <a:ext cx="163403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Family Law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349133" y="2884488"/>
            <a:ext cx="1634034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Criminal Defense Law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338766" y="1643757"/>
            <a:ext cx="2040434" cy="2758281"/>
          </a:xfrm>
          <a:prstGeom prst="roundRect">
            <a:avLst>
              <a:gd fmla="val 373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567366" y="1853307"/>
            <a:ext cx="1413073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Auto and Food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1031240" y="1834257"/>
            <a:ext cx="1701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567366" y="2442468"/>
            <a:ext cx="1583234" cy="635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67366" y="2550418"/>
            <a:ext cx="163403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Auto Repair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567366" y="2828528"/>
            <a:ext cx="163403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Chinese Restaurant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STUDY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12800" y="10896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We Collected, and What We Tested.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12800" y="1643757"/>
            <a:ext cx="6064945" cy="2947392"/>
          </a:xfrm>
          <a:prstGeom prst="roundRect">
            <a:avLst>
              <a:gd fmla="val 2585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143000" y="1923157"/>
            <a:ext cx="556668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WHAT WE CAPTURED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43000" y="2225377"/>
            <a:ext cx="556668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6400"/>
              <a:buFont typeface="Manrope"/>
              <a:buNone/>
            </a:pPr>
            <a:r>
              <a:rPr b="1" lang="en-US" sz="64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175+ million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43000" y="3127077"/>
            <a:ext cx="5566681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data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43000" y="3490218"/>
            <a:ext cx="5404545" cy="6350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143000" y="3585468"/>
            <a:ext cx="173374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400"/>
              <a:buFont typeface="Manrope"/>
              <a:buNone/>
            </a:pPr>
            <a:r>
              <a:rPr b="1" lang="en-US" sz="24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10,448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143000" y="3915668"/>
            <a:ext cx="173374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businesses studied in depth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003748" y="3585468"/>
            <a:ext cx="173384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400"/>
              <a:buFont typeface="Manrope"/>
              <a:buNone/>
            </a:pPr>
            <a:r>
              <a:rPr b="1" lang="en-US" sz="24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003748" y="3915668"/>
            <a:ext cx="1733848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niches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864596" y="3585468"/>
            <a:ext cx="173374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400"/>
              <a:buFont typeface="Manrope"/>
              <a:buNone/>
            </a:pPr>
            <a:r>
              <a:rPr b="1" lang="en-US" sz="24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50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64596" y="3915668"/>
            <a:ext cx="1733748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US cities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058720" y="1646932"/>
            <a:ext cx="4317305" cy="891381"/>
          </a:xfrm>
          <a:prstGeom prst="roundRect">
            <a:avLst>
              <a:gd fmla="val 819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290495" y="1914823"/>
            <a:ext cx="18967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~180,000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9309795" y="1861542"/>
            <a:ext cx="1889489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Google Maps searches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058720" y="2671663"/>
            <a:ext cx="4317305" cy="891480"/>
          </a:xfrm>
          <a:prstGeom prst="roundRect">
            <a:avLst>
              <a:gd fmla="val 8191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290495" y="2939554"/>
            <a:ext cx="18967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~149,000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309795" y="3001863"/>
            <a:ext cx="188744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AI Overview searches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058720" y="3696494"/>
            <a:ext cx="4317305" cy="891480"/>
          </a:xfrm>
          <a:prstGeom prst="roundRect">
            <a:avLst>
              <a:gd fmla="val 8191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290495" y="3964384"/>
            <a:ext cx="18967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~33,000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309795" y="4026694"/>
            <a:ext cx="156031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ChatGPT answers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12800" y="4768949"/>
            <a:ext cx="981075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Then we tested 500+ signals and patterns. That produced 584 findings.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TERMS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12800" y="10896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Six Terms Used in This Talk.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12800" y="1719957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Map Pack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111500" y="1739007"/>
            <a:ext cx="8459217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The three businesses Google shows at the top of local Maps results. “Maps top 10” is the first ten.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8"/>
          <p:cNvCxnSpPr/>
          <p:nvPr/>
        </p:nvCxnSpPr>
        <p:spPr>
          <a:xfrm>
            <a:off x="812800" y="2067223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812800" y="2146598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 Overview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111500" y="2165648"/>
            <a:ext cx="508626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Google’s AI-written answer at the top of the search results.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812800" y="2493863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812800" y="2573238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AI-Named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111500" y="2592288"/>
            <a:ext cx="485734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Named in an AI Overview or recommended by ChatGPT.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812800" y="2920504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812800" y="2999879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Primary Category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111500" y="3018929"/>
            <a:ext cx="677514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The main type of business set on the Google Business Profile, like “locksmith”.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8"/>
          <p:cNvCxnSpPr/>
          <p:nvPr/>
        </p:nvCxnSpPr>
        <p:spPr>
          <a:xfrm>
            <a:off x="812800" y="3347145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8"/>
          <p:cNvSpPr/>
          <p:nvPr/>
        </p:nvSpPr>
        <p:spPr>
          <a:xfrm>
            <a:off x="812800" y="3426520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Neither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111500" y="3445570"/>
            <a:ext cx="52929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The baseline group: businesses named by neither AI surface.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812800" y="3773785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/>
          <p:nvPr/>
        </p:nvSpPr>
        <p:spPr>
          <a:xfrm>
            <a:off x="812800" y="3853160"/>
            <a:ext cx="2158365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b="1"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Maps-Only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111500" y="3872210"/>
            <a:ext cx="5263876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Businesses in the Maps top 10 that neither AI surface names.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TWO KINDS OF NUMBERS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12800" y="10896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Percent and Points Measure Different Things.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15975" y="1646932"/>
            <a:ext cx="5187950" cy="1739801"/>
          </a:xfrm>
          <a:prstGeom prst="roundRect">
            <a:avLst>
              <a:gd fmla="val 419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073150" y="1878707"/>
            <a:ext cx="481380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Percent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073150" y="2412107"/>
            <a:ext cx="4813808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How much more they have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73150" y="2728317"/>
            <a:ext cx="4813808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Counts: reviews, photos, posts, mentions. 200 reviews against 100 is +100%.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188075" y="1646932"/>
            <a:ext cx="5187950" cy="1739801"/>
          </a:xfrm>
          <a:prstGeom prst="roundRect">
            <a:avLst>
              <a:gd fmla="val 419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45250" y="1878707"/>
            <a:ext cx="481380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Points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45250" y="2412107"/>
            <a:ext cx="4813808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How much more often they are named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45250" y="2728317"/>
            <a:ext cx="4813808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 share of businesses. Named 22% of the time against 8% is +14 points.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12800" y="3567708"/>
            <a:ext cx="98107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We use two units because we compared two kinds of things: how much a business has, and how often AI names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WE SET OUT TO FIND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12800" y="1115020"/>
            <a:ext cx="10883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800"/>
              <a:buFont typeface="Manrope"/>
              <a:buNone/>
            </a:pPr>
            <a:r>
              <a:rPr lang="en-US" sz="2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Why Does AI Name Some Local Businesses and Skip Others?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12800" y="160922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Including businesses that already rank in the Maps top 10.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15975" y="2056904"/>
            <a:ext cx="3397200" cy="2820300"/>
          </a:xfrm>
          <a:prstGeom prst="roundRect">
            <a:avLst>
              <a:gd fmla="val 258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073150" y="2288679"/>
            <a:ext cx="296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073150" y="2572437"/>
            <a:ext cx="29694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Do the Businesses Named In AI  Have in Common?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073150" y="3619599"/>
            <a:ext cx="296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We looked for signals that go with being named.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073150" y="4183360"/>
            <a:ext cx="296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Not for a formula, and not for a cause.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397375" y="2056904"/>
            <a:ext cx="3397200" cy="2820300"/>
          </a:xfrm>
          <a:prstGeom prst="roundRect">
            <a:avLst>
              <a:gd fmla="val 258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54550" y="2288679"/>
            <a:ext cx="296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FOUR PLACES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654550" y="2603599"/>
            <a:ext cx="2969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Where a Customer Can Find You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611313" y="3497549"/>
            <a:ext cx="296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Google Maps, Google Organic, AI Overviews and ChatGPT.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654550" y="4107160"/>
            <a:ext cx="296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Our focus is where AI visibility and Maps ranking overlap.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978775" y="2056904"/>
            <a:ext cx="3397200" cy="2820300"/>
          </a:xfrm>
          <a:prstGeom prst="roundRect">
            <a:avLst>
              <a:gd fmla="val 258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235950" y="2288679"/>
            <a:ext cx="296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235950" y="2603599"/>
            <a:ext cx="2969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Named by AI, or Not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235925" y="3270349"/>
            <a:ext cx="296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AI-named: in AI Overviews or ChatGPT.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235975" y="3876010"/>
            <a:ext cx="2969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Maps-only: in the Maps top 10, named by neither. Neither: the baseline.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0693400" y="6238280"/>
            <a:ext cx="685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WE’LL COVER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12800" y="1089620"/>
            <a:ext cx="10883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Six Questions, Then What to Try.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12800" y="1807567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460500" y="1732657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Is Maps  Ranking Enough?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460500" y="2015232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Where Maps and AI agree, and where they part ways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1"/>
          <p:cNvCxnSpPr/>
          <p:nvPr/>
        </p:nvCxnSpPr>
        <p:spPr>
          <a:xfrm>
            <a:off x="812800" y="2330152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1"/>
          <p:cNvSpPr/>
          <p:nvPr/>
        </p:nvSpPr>
        <p:spPr>
          <a:xfrm>
            <a:off x="812800" y="2497138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460500" y="2422227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Separates the Maps Businesses AI Picks?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460500" y="2704802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Reviews and your Google Business 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>
            <a:off x="812800" y="3019723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1"/>
          <p:cNvSpPr/>
          <p:nvPr/>
        </p:nvSpPr>
        <p:spPr>
          <a:xfrm>
            <a:off x="812800" y="3186708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460500" y="3111798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Does My Site Matter?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460500" y="3394373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What to build, and what to avoid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812800" y="3709293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1"/>
          <p:cNvSpPr/>
          <p:nvPr/>
        </p:nvSpPr>
        <p:spPr>
          <a:xfrm>
            <a:off x="812800" y="3876278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460500" y="3801368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Where Do Maps and AI Disagree?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460500" y="4083943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Chains and Reddit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1"/>
          <p:cNvCxnSpPr/>
          <p:nvPr/>
        </p:nvCxnSpPr>
        <p:spPr>
          <a:xfrm>
            <a:off x="812800" y="4398863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1"/>
          <p:cNvSpPr/>
          <p:nvPr/>
        </p:nvSpPr>
        <p:spPr>
          <a:xfrm>
            <a:off x="812800" y="4565848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460500" y="4490938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Who Else Has to Say It?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460500" y="4773513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Other pages, mentions and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1"/>
          <p:cNvCxnSpPr/>
          <p:nvPr/>
        </p:nvCxnSpPr>
        <p:spPr>
          <a:xfrm>
            <a:off x="812800" y="5088434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/>
          <p:nvPr/>
        </p:nvSpPr>
        <p:spPr>
          <a:xfrm>
            <a:off x="812800" y="5255419"/>
            <a:ext cx="49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800"/>
              <a:buFont typeface="Manrope"/>
              <a:buNone/>
            </a:pPr>
            <a:r>
              <a:rPr b="1" lang="en-US" sz="28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460500" y="5180509"/>
            <a:ext cx="10216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700"/>
              <a:buFont typeface="Manrope"/>
              <a:buNone/>
            </a:pPr>
            <a:r>
              <a:rPr lang="en-US" sz="17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One More Thing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460500" y="5463084"/>
            <a:ext cx="102162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What AI reads that Maps doesn’t: Reddit and Facebook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0693400" y="6238280"/>
            <a:ext cx="685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812800" y="228887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12800" y="261649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Is Maps Ranking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12800" y="3224500"/>
            <a:ext cx="3517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Enough?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12800" y="3832523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Being near the searcher wins the map. AI answers draw on a different set of businesses, across the whole city.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9677400" y="37630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ChatGPT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7889B7">
                  <a:alpha val="61961"/>
                </a:srgbClr>
              </a:gs>
              <a:gs pos="100000">
                <a:srgbClr val="5C6A99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7889B7">
                  <a:alpha val="61961"/>
                </a:srgbClr>
              </a:gs>
              <a:gs pos="100000">
                <a:srgbClr val="5C6A99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AGAINST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 Overviews Reach Businesses the Map Doesn’t.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AI Overviews and Organic carry a business about 3 times farther from its pin than Maps does.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812800" y="1643757"/>
            <a:ext cx="5414169" cy="2937073"/>
          </a:xfrm>
          <a:prstGeom prst="roundRect">
            <a:avLst>
              <a:gd fmla="val 259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066800" y="1821557"/>
            <a:ext cx="46174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HOW FAR EACH SURFACE CARRIES A BUSINESS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066800" y="2136477"/>
            <a:ext cx="505335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Businesses reaching 5 miles or more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066800" y="2466578"/>
            <a:ext cx="1524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346200" y="2401888"/>
            <a:ext cx="45184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9.4%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874242" y="2419648"/>
            <a:ext cx="926802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Google Maps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1066800" y="2735759"/>
            <a:ext cx="10858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279650" y="2671068"/>
            <a:ext cx="55155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65.6%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2907407" y="2688828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066800" y="3004939"/>
            <a:ext cx="132080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2514600" y="2940248"/>
            <a:ext cx="51187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80.1%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102670" y="2958009"/>
            <a:ext cx="568226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Organic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3"/>
          <p:cNvCxnSpPr/>
          <p:nvPr/>
        </p:nvCxnSpPr>
        <p:spPr>
          <a:xfrm>
            <a:off x="1066800" y="3276104"/>
            <a:ext cx="4906169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3"/>
          <p:cNvSpPr/>
          <p:nvPr/>
        </p:nvSpPr>
        <p:spPr>
          <a:xfrm>
            <a:off x="1066800" y="3368179"/>
            <a:ext cx="5053354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Median farthest point where a business appears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066800" y="3698280"/>
            <a:ext cx="4318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625600" y="3633589"/>
            <a:ext cx="71467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2.1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2416473" y="3651349"/>
            <a:ext cx="926802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Google Maps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66800" y="3967460"/>
            <a:ext cx="12573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451100" y="3902770"/>
            <a:ext cx="71893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6.1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246239" y="3920530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066800" y="4236641"/>
            <a:ext cx="148590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679700" y="4171950"/>
            <a:ext cx="74741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7.2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503315" y="4189710"/>
            <a:ext cx="568226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Organic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404769" y="1643757"/>
            <a:ext cx="4974431" cy="2937073"/>
          </a:xfrm>
          <a:prstGeom prst="roundRect">
            <a:avLst>
              <a:gd fmla="val 259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684169" y="1872357"/>
            <a:ext cx="45481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SAME BUSINESS, ON BOTH SURFACES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684169" y="2356743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78%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131969" y="2225377"/>
            <a:ext cx="3056866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of businesses reach farther in AI Overviews than in Maps (typically 3.1 miles farther)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684169" y="3096518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89%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131969" y="3085108"/>
            <a:ext cx="3056866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reach farther in Organic than in Maps (typically 4.7 miles farther)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684169" y="3704828"/>
            <a:ext cx="45481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Every business seen in the September panels. Study businesses, not market rates.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15975" y="4711005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1035050" y="485388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035050" y="5087541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216819" y="5087541"/>
            <a:ext cx="5057646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judge your AI visibility from your Maps ranking next door.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035050" y="5348486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216819" y="5348486"/>
            <a:ext cx="303438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Check it from spots a few miles away.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3"/>
          <p:cNvCxnSpPr/>
          <p:nvPr/>
        </p:nvCxnSpPr>
        <p:spPr>
          <a:xfrm>
            <a:off x="7705725" y="4853880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3"/>
          <p:cNvSpPr/>
          <p:nvPr/>
        </p:nvSpPr>
        <p:spPr>
          <a:xfrm>
            <a:off x="7937500" y="485388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7937500" y="5087541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your service from a spot 5 miles away. Are you named?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MAPS, ORGANIC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You Don’t Need the Organic Top 10 to Be Seen in AI.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Out of every 100 Maps pack businesses, about 48 are named by AI Overviews. Most of those aren’t in the Organic top 10.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12800" y="1643757"/>
            <a:ext cx="5659338" cy="2281634"/>
          </a:xfrm>
          <a:prstGeom prst="roundRect">
            <a:avLst>
              <a:gd fmla="val 3340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0414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12319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4224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6129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8034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9939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21844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23749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25654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2755900" y="1844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10414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2319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14224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16129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18034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9939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21844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23749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25654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755900" y="2035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10414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2319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14224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16129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8034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9939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21844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23749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5654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2755900" y="2225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0414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2319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4224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6129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8034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9939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21844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23749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25654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2755900" y="2416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0414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2319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4224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6129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8034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9939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21844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23749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25654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2755900" y="2606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0414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2319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4224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16129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8034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9939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21844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23749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25654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2755900" y="2797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0414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2319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4224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6129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8034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9939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21844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23749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25654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2755900" y="2987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0414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2319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4224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6129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8034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9939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21844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23749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5654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2755900" y="3178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0414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12319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4224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6129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8034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9939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1844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23749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25654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2755900" y="33687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0414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2319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14224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16129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18034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19939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1844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23749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25654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2755900" y="3559274"/>
            <a:ext cx="165100" cy="165100"/>
          </a:xfrm>
          <a:prstGeom prst="roundRect">
            <a:avLst>
              <a:gd fmla="val 23077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3124200" y="2202359"/>
            <a:ext cx="3212918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OUT OF 100 MAPS PACK BUSINESSES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3124200" y="2696964"/>
            <a:ext cx="127000" cy="127000"/>
          </a:xfrm>
          <a:prstGeom prst="roundRect">
            <a:avLst>
              <a:gd fmla="val 25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3327400" y="2669679"/>
            <a:ext cx="2489478" cy="206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Named, and in the Organic top 10: 15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3124200" y="2954734"/>
            <a:ext cx="127000" cy="127000"/>
          </a:xfrm>
          <a:prstGeom prst="roundRect">
            <a:avLst>
              <a:gd fmla="val 25000" name="adj"/>
            </a:avLst>
          </a:prstGeom>
          <a:solidFill>
            <a:srgbClr val="F0DD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3327400" y="2927449"/>
            <a:ext cx="2487740" cy="206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Named, not in the Organic top 10: 33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3124200" y="3212505"/>
            <a:ext cx="127000" cy="127000"/>
          </a:xfrm>
          <a:prstGeom prst="roundRect">
            <a:avLst>
              <a:gd fmla="val 25000" name="adj"/>
            </a:avLst>
          </a:prstGeom>
          <a:solidFill>
            <a:srgbClr val="3333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3327400" y="3185220"/>
            <a:ext cx="2145795" cy="206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Not named by AI Overviews: 52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6653113" y="1646932"/>
            <a:ext cx="4722912" cy="703362"/>
          </a:xfrm>
          <a:prstGeom prst="roundRect">
            <a:avLst>
              <a:gd fmla="val 1038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834088" y="1851918"/>
            <a:ext cx="1638300" cy="318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48 of 100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8573988" y="1899543"/>
            <a:ext cx="208018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are named by AI Overviews.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6653113" y="2432844"/>
            <a:ext cx="4722912" cy="703461"/>
          </a:xfrm>
          <a:prstGeom prst="roundRect">
            <a:avLst>
              <a:gd fmla="val 10381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6834088" y="2637929"/>
            <a:ext cx="1638300" cy="318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2 in 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573988" y="2487513"/>
            <a:ext cx="2699694" cy="619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of those 48 are not in the Organic top 10 (33 of 48). So you don’t necessarily need organic rankings.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653113" y="3218855"/>
            <a:ext cx="4722912" cy="703362"/>
          </a:xfrm>
          <a:prstGeom prst="roundRect">
            <a:avLst>
              <a:gd fmla="val 1038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834088" y="3277295"/>
            <a:ext cx="1638300" cy="61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15 of 17 vs 33 of 83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8573988" y="3273524"/>
            <a:ext cx="2699694" cy="619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are named, in the Organic top 10 vs outside it. Being in it goes with better odds.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815975" y="4055566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1035050" y="4198441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035050" y="4432102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216819" y="4432102"/>
            <a:ext cx="443548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Treat Organic and AI visibility as separate scoreboards.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1035050" y="4693047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216819" y="4693047"/>
            <a:ext cx="5142366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skip Organic: it still goes with better odds of being named.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14"/>
          <p:cNvCxnSpPr/>
          <p:nvPr/>
        </p:nvCxnSpPr>
        <p:spPr>
          <a:xfrm>
            <a:off x="7705725" y="4198441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4"/>
          <p:cNvSpPr/>
          <p:nvPr/>
        </p:nvSpPr>
        <p:spPr>
          <a:xfrm>
            <a:off x="7937500" y="4198441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7937500" y="4432102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Are the businesses AI names for your search also in the Organic top 10?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812800" y="5188942"/>
            <a:ext cx="10464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Counts per 100 are rounded. Business-level flags. “Not in the Organic top 10” includes businesses with no website. One month of data.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AGAINST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 Reaches Farther Than Maps.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Most of what ChatGPT recommends sits outside the Maps top 10, and AI shows up about 2.5 times farther from the searcher.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812800" y="1643757"/>
            <a:ext cx="5194300" cy="2566392"/>
          </a:xfrm>
          <a:prstGeom prst="roundRect">
            <a:avLst>
              <a:gd fmla="val 2969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1092200" y="1846957"/>
            <a:ext cx="47745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CHATGPT RECOMMENDATIONS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092200" y="2123777"/>
            <a:ext cx="477456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5500"/>
              <a:buFont typeface="Manrope"/>
              <a:buNone/>
            </a:pPr>
            <a:r>
              <a:rPr b="1" lang="en-US" sz="55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57.6%</a:t>
            </a:r>
            <a:endParaRPr sz="5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1092200" y="2885777"/>
            <a:ext cx="4774565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are not in the Maps top 10.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184900" y="1643757"/>
            <a:ext cx="5194300" cy="2566392"/>
          </a:xfrm>
          <a:prstGeom prst="roundRect">
            <a:avLst>
              <a:gd fmla="val 2969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6464300" y="1745574"/>
            <a:ext cx="47745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645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30"/>
              <a:buFont typeface="Inter"/>
              <a:buNone/>
            </a:pPr>
            <a:r>
              <a:rPr b="1" lang="en-US" sz="93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TYPICAL DISTANCE FROM SEARCHER TO WHERE A BUSINESS APPEARS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464300" y="2149177"/>
            <a:ext cx="47745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Google Maps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6464300" y="2479278"/>
            <a:ext cx="6858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7277100" y="2414588"/>
            <a:ext cx="73064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1.8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5"/>
          <p:cNvCxnSpPr/>
          <p:nvPr/>
        </p:nvCxnSpPr>
        <p:spPr>
          <a:xfrm>
            <a:off x="6464300" y="2737743"/>
            <a:ext cx="46355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5"/>
          <p:cNvSpPr/>
          <p:nvPr/>
        </p:nvSpPr>
        <p:spPr>
          <a:xfrm>
            <a:off x="6464300" y="2829818"/>
            <a:ext cx="47745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6464300" y="3159919"/>
            <a:ext cx="17526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8343900" y="3095228"/>
            <a:ext cx="76358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4.6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5"/>
          <p:cNvCxnSpPr/>
          <p:nvPr/>
        </p:nvCxnSpPr>
        <p:spPr>
          <a:xfrm>
            <a:off x="6464300" y="3418384"/>
            <a:ext cx="46355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5"/>
          <p:cNvSpPr/>
          <p:nvPr/>
        </p:nvSpPr>
        <p:spPr>
          <a:xfrm>
            <a:off x="6464300" y="3510459"/>
            <a:ext cx="47745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Google Organic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464300" y="3840559"/>
            <a:ext cx="182880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8420100" y="3775869"/>
            <a:ext cx="7620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4.8 miles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15975" y="4340324"/>
            <a:ext cx="10560050" cy="1187946"/>
          </a:xfrm>
          <a:prstGeom prst="roundRect">
            <a:avLst>
              <a:gd fmla="val 614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1035050" y="4483199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1035050" y="471685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1216819" y="4716859"/>
            <a:ext cx="4207892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judge your AI reach from your Maps heat map.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5"/>
          <p:cNvCxnSpPr/>
          <p:nvPr/>
        </p:nvCxnSpPr>
        <p:spPr>
          <a:xfrm>
            <a:off x="7705725" y="4483199"/>
            <a:ext cx="0" cy="90219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5"/>
          <p:cNvSpPr/>
          <p:nvPr/>
        </p:nvSpPr>
        <p:spPr>
          <a:xfrm>
            <a:off x="7937500" y="4483199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7937500" y="4716859"/>
            <a:ext cx="3316034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your service from a town 5 or more miles away. Do you appear in the AI answer?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HOW OFTEN AI ANSWERS APPEAR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How You Search Decides Whether an AI Overview Appears.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AI Overviews show on roughly 4% to 14% of short local searches, and on about half of the full AI Overview panel (10 search types).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812800" y="1643757"/>
            <a:ext cx="10566400" cy="2613323"/>
          </a:xfrm>
          <a:prstGeom prst="roundRect">
            <a:avLst>
              <a:gd fmla="val 2916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092200" y="1821557"/>
            <a:ext cx="505733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SHARE OF SEARCHES THAT SHOW AN AI OVERVIEW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1092200" y="2144713"/>
            <a:ext cx="340106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Short “near me” search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97400" y="2201168"/>
            <a:ext cx="2857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5010150" y="2136477"/>
            <a:ext cx="44281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4.3%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16"/>
          <p:cNvCxnSpPr/>
          <p:nvPr/>
        </p:nvCxnSpPr>
        <p:spPr>
          <a:xfrm>
            <a:off x="1092200" y="247233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16"/>
          <p:cNvSpPr/>
          <p:nvPr/>
        </p:nvSpPr>
        <p:spPr>
          <a:xfrm>
            <a:off x="1092200" y="2572643"/>
            <a:ext cx="340106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Short “in [city]” search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4597400" y="2629098"/>
            <a:ext cx="6413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5365750" y="2564408"/>
            <a:ext cx="43953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9.7%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6"/>
          <p:cNvCxnSpPr/>
          <p:nvPr/>
        </p:nvCxnSpPr>
        <p:spPr>
          <a:xfrm>
            <a:off x="1092200" y="290026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16"/>
          <p:cNvSpPr/>
          <p:nvPr/>
        </p:nvSpPr>
        <p:spPr>
          <a:xfrm>
            <a:off x="1092200" y="3000573"/>
            <a:ext cx="340106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Short “best” search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597400" y="3057029"/>
            <a:ext cx="7747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499100" y="2992338"/>
            <a:ext cx="47575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11.7%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6"/>
          <p:cNvCxnSpPr/>
          <p:nvPr/>
        </p:nvCxnSpPr>
        <p:spPr>
          <a:xfrm>
            <a:off x="1092200" y="3328194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6"/>
          <p:cNvSpPr/>
          <p:nvPr/>
        </p:nvSpPr>
        <p:spPr>
          <a:xfrm>
            <a:off x="1092200" y="3428504"/>
            <a:ext cx="340106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Short high-need search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4597400" y="3484959"/>
            <a:ext cx="9017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626100" y="3420269"/>
            <a:ext cx="50601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13.7%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16"/>
          <p:cNvCxnSpPr/>
          <p:nvPr/>
        </p:nvCxnSpPr>
        <p:spPr>
          <a:xfrm>
            <a:off x="1092200" y="3756124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16"/>
          <p:cNvSpPr/>
          <p:nvPr/>
        </p:nvSpPr>
        <p:spPr>
          <a:xfrm>
            <a:off x="1092200" y="3856434"/>
            <a:ext cx="340106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All 10 search types, 25 niches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4597400" y="3912890"/>
            <a:ext cx="32131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7937500" y="3848199"/>
            <a:ext cx="53925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48.7%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815975" y="4387255"/>
            <a:ext cx="10560050" cy="965101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1035050" y="453013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35050" y="476379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216819" y="4763790"/>
            <a:ext cx="485090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Search your service both ways: short, and as a full question.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6"/>
          <p:cNvCxnSpPr/>
          <p:nvPr/>
        </p:nvCxnSpPr>
        <p:spPr>
          <a:xfrm>
            <a:off x="7705725" y="4530130"/>
            <a:ext cx="0" cy="6793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6"/>
          <p:cNvSpPr/>
          <p:nvPr/>
        </p:nvSpPr>
        <p:spPr>
          <a:xfrm>
            <a:off x="7937500" y="453013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7937500" y="476379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Which style triggers an AI Overview for you?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THE SEARCHES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We Searched: Locksmiths in Phoenix, as an Example.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Each niche had its own locked set of searches, with the city swapped in. Nothing was written at collection time.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812800" y="1643757"/>
            <a:ext cx="3403600" cy="4141887"/>
          </a:xfrm>
          <a:prstGeom prst="roundRect">
            <a:avLst>
              <a:gd fmla="val 2239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1028700" y="1834257"/>
            <a:ext cx="306095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Manrope"/>
              <a:buNone/>
            </a:pPr>
            <a:r>
              <a:rPr b="1" lang="en-US" sz="17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Google Maps and Organic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1028700" y="2182217"/>
            <a:ext cx="3060954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4 searches per niche, from 13 points around each 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17"/>
          <p:cNvCxnSpPr/>
          <p:nvPr/>
        </p:nvCxnSpPr>
        <p:spPr>
          <a:xfrm>
            <a:off x="1041400" y="2682478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B87E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7"/>
          <p:cNvSpPr/>
          <p:nvPr/>
        </p:nvSpPr>
        <p:spPr>
          <a:xfrm>
            <a:off x="1168400" y="2682478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“locksmith near me”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17"/>
          <p:cNvCxnSpPr/>
          <p:nvPr/>
        </p:nvCxnSpPr>
        <p:spPr>
          <a:xfrm>
            <a:off x="1041400" y="2977059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B87E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7"/>
          <p:cNvSpPr/>
          <p:nvPr/>
        </p:nvSpPr>
        <p:spPr>
          <a:xfrm>
            <a:off x="1168400" y="2977059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“best locksmith near me”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17"/>
          <p:cNvCxnSpPr/>
          <p:nvPr/>
        </p:nvCxnSpPr>
        <p:spPr>
          <a:xfrm>
            <a:off x="1041400" y="3271639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B87E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7"/>
          <p:cNvSpPr/>
          <p:nvPr/>
        </p:nvSpPr>
        <p:spPr>
          <a:xfrm>
            <a:off x="1168400" y="3271639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“auto locksmith near me”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17"/>
          <p:cNvCxnSpPr/>
          <p:nvPr/>
        </p:nvCxnSpPr>
        <p:spPr>
          <a:xfrm>
            <a:off x="1041400" y="3566220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B87E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7"/>
          <p:cNvSpPr/>
          <p:nvPr/>
        </p:nvSpPr>
        <p:spPr>
          <a:xfrm>
            <a:off x="1168400" y="3566220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“locksmith in Phoenix”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4394200" y="1643757"/>
            <a:ext cx="3403600" cy="4141887"/>
          </a:xfrm>
          <a:prstGeom prst="roundRect">
            <a:avLst>
              <a:gd fmla="val 2239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4610100" y="1834257"/>
            <a:ext cx="306095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Manrope"/>
              <a:buNone/>
            </a:pPr>
            <a:r>
              <a:rPr b="1" lang="en-US" sz="17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AI Overviews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4610100" y="2182217"/>
            <a:ext cx="3060954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 searches per niche, from the same 13 points. Six shown.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17"/>
          <p:cNvCxnSpPr/>
          <p:nvPr/>
        </p:nvCxnSpPr>
        <p:spPr>
          <a:xfrm>
            <a:off x="4622800" y="2682478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17"/>
          <p:cNvSpPr/>
          <p:nvPr/>
        </p:nvSpPr>
        <p:spPr>
          <a:xfrm>
            <a:off x="4749800" y="2682478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“locksmith near me”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17"/>
          <p:cNvCxnSpPr/>
          <p:nvPr/>
        </p:nvCxnSpPr>
        <p:spPr>
          <a:xfrm>
            <a:off x="4622800" y="2977059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7"/>
          <p:cNvSpPr/>
          <p:nvPr/>
        </p:nvSpPr>
        <p:spPr>
          <a:xfrm>
            <a:off x="4749800" y="2977059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“locksmith in Phoenix”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17"/>
          <p:cNvCxnSpPr/>
          <p:nvPr/>
        </p:nvCxnSpPr>
        <p:spPr>
          <a:xfrm>
            <a:off x="4622800" y="3271639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17"/>
          <p:cNvSpPr/>
          <p:nvPr/>
        </p:nvSpPr>
        <p:spPr>
          <a:xfrm>
            <a:off x="4749800" y="3271639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“best locksmith in Phoenix”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17"/>
          <p:cNvCxnSpPr/>
          <p:nvPr/>
        </p:nvCxnSpPr>
        <p:spPr>
          <a:xfrm>
            <a:off x="4622800" y="3566220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17"/>
          <p:cNvSpPr/>
          <p:nvPr/>
        </p:nvSpPr>
        <p:spPr>
          <a:xfrm>
            <a:off x="4749800" y="3566220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“I just moved into a house and want the locks changed. Who should I call in Phoenix?”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7"/>
          <p:cNvCxnSpPr/>
          <p:nvPr/>
        </p:nvCxnSpPr>
        <p:spPr>
          <a:xfrm>
            <a:off x="4622800" y="4272161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7"/>
          <p:cNvSpPr/>
          <p:nvPr/>
        </p:nvSpPr>
        <p:spPr>
          <a:xfrm>
            <a:off x="4749800" y="4272161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“I’m locked out of my house and need help right away. Who should I call in Phoenix?”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17"/>
          <p:cNvCxnSpPr/>
          <p:nvPr/>
        </p:nvCxnSpPr>
        <p:spPr>
          <a:xfrm>
            <a:off x="4622800" y="4978102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D4A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17"/>
          <p:cNvSpPr/>
          <p:nvPr/>
        </p:nvSpPr>
        <p:spPr>
          <a:xfrm>
            <a:off x="4749800" y="4978102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“What should I look for when choosing a locksmith in Phoenix, and which local companies meet those criteria?”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7975600" y="1643757"/>
            <a:ext cx="3403600" cy="4141887"/>
          </a:xfrm>
          <a:prstGeom prst="roundRect">
            <a:avLst>
              <a:gd fmla="val 2239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8191500" y="1834257"/>
            <a:ext cx="306095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Manrope"/>
              <a:buNone/>
            </a:pPr>
            <a:r>
              <a:rPr b="1" lang="en-US" sz="17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ChatGPT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8191500" y="2182217"/>
            <a:ext cx="3060954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7 prompts per niche, each asked 3 times. Five shown.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17"/>
          <p:cNvCxnSpPr/>
          <p:nvPr/>
        </p:nvCxnSpPr>
        <p:spPr>
          <a:xfrm>
            <a:off x="8204200" y="2682478"/>
            <a:ext cx="0" cy="205680"/>
          </a:xfrm>
          <a:prstGeom prst="straightConnector1">
            <a:avLst/>
          </a:prstGeom>
          <a:noFill/>
          <a:ln cap="flat" cmpd="sng" w="25400">
            <a:solidFill>
              <a:srgbClr val="7889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17"/>
          <p:cNvSpPr/>
          <p:nvPr/>
        </p:nvSpPr>
        <p:spPr>
          <a:xfrm>
            <a:off x="8331200" y="2682478"/>
            <a:ext cx="2917063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“locksmith in Phoenix”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17"/>
          <p:cNvCxnSpPr/>
          <p:nvPr/>
        </p:nvCxnSpPr>
        <p:spPr>
          <a:xfrm>
            <a:off x="8204200" y="2977059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7889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17"/>
          <p:cNvSpPr/>
          <p:nvPr/>
        </p:nvSpPr>
        <p:spPr>
          <a:xfrm>
            <a:off x="8331200" y="2977059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“I just moved into a house and want the locks changed. Who should I call in Phoenix?”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17"/>
          <p:cNvCxnSpPr/>
          <p:nvPr/>
        </p:nvCxnSpPr>
        <p:spPr>
          <a:xfrm>
            <a:off x="8204200" y="3683000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7889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7"/>
          <p:cNvSpPr/>
          <p:nvPr/>
        </p:nvSpPr>
        <p:spPr>
          <a:xfrm>
            <a:off x="8331200" y="3683000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“I’m locked out of my house and need help right away. Who should I call in Phoenix?”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7"/>
          <p:cNvCxnSpPr/>
          <p:nvPr/>
        </p:nvCxnSpPr>
        <p:spPr>
          <a:xfrm>
            <a:off x="8204200" y="4388941"/>
            <a:ext cx="0" cy="411361"/>
          </a:xfrm>
          <a:prstGeom prst="straightConnector1">
            <a:avLst/>
          </a:prstGeom>
          <a:noFill/>
          <a:ln cap="flat" cmpd="sng" w="25400">
            <a:solidFill>
              <a:srgbClr val="7889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7"/>
          <p:cNvSpPr/>
          <p:nvPr/>
        </p:nvSpPr>
        <p:spPr>
          <a:xfrm>
            <a:off x="8331200" y="4388941"/>
            <a:ext cx="2917063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“Who offers reasonably priced locksmith services in Phoenix?”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17"/>
          <p:cNvCxnSpPr/>
          <p:nvPr/>
        </p:nvCxnSpPr>
        <p:spPr>
          <a:xfrm>
            <a:off x="8204200" y="4889202"/>
            <a:ext cx="0" cy="617041"/>
          </a:xfrm>
          <a:prstGeom prst="straightConnector1">
            <a:avLst/>
          </a:prstGeom>
          <a:noFill/>
          <a:ln cap="flat" cmpd="sng" w="25400">
            <a:solidFill>
              <a:srgbClr val="7889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17"/>
          <p:cNvSpPr/>
          <p:nvPr/>
        </p:nvSpPr>
        <p:spPr>
          <a:xfrm>
            <a:off x="8331200" y="4889202"/>
            <a:ext cx="2917063" cy="642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“What should I look for when choosing a locksmith in Phoenix, and which local companies meet those criteria?”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8"/>
          <p:cNvSpPr/>
          <p:nvPr/>
        </p:nvSpPr>
        <p:spPr>
          <a:xfrm>
            <a:off x="812800" y="228887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812800" y="261649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Separates the Maps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812800" y="3224500"/>
            <a:ext cx="5577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Businesses AI Picks?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812800" y="3832523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Compared with Maps businesses AI leaves out, and inside the same Maps position.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9677400" y="37630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Photos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9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REVIEWS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Same Maps Rank, About Twice the Reviews.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812800" y="1250057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Compared with Maps-only businesses (in the Maps top 10, named by neither AI): far more Google reviews, even at the same spot.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812800" y="1910457"/>
            <a:ext cx="5169000" cy="2662800"/>
          </a:xfrm>
          <a:prstGeom prst="roundRect">
            <a:avLst>
              <a:gd fmla="val 2862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1066800" y="2113657"/>
            <a:ext cx="2451563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PERCENT MORE REVIEWS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3599359" y="226347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3821525" y="2229403"/>
            <a:ext cx="985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4902498" y="226347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5110463" y="2251754"/>
            <a:ext cx="685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1066800" y="2641898"/>
            <a:ext cx="4800727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Anywhere in the Maps top 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1066800" y="2971998"/>
            <a:ext cx="10668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2260600" y="2907308"/>
            <a:ext cx="53677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+112%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1066800" y="3241179"/>
            <a:ext cx="16573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2851150" y="3176488"/>
            <a:ext cx="54808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+174%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19"/>
          <p:cNvCxnSpPr/>
          <p:nvPr/>
        </p:nvCxnSpPr>
        <p:spPr>
          <a:xfrm>
            <a:off x="1066800" y="3512344"/>
            <a:ext cx="46609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19"/>
          <p:cNvSpPr/>
          <p:nvPr/>
        </p:nvSpPr>
        <p:spPr>
          <a:xfrm>
            <a:off x="1066800" y="3604419"/>
            <a:ext cx="4800727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At the exact same Maps rank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1066800" y="3934520"/>
            <a:ext cx="9398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2133600" y="3869829"/>
            <a:ext cx="49907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+99%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1066800" y="4203700"/>
            <a:ext cx="14605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2654300" y="4139009"/>
            <a:ext cx="5588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+153%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159500" y="1910457"/>
            <a:ext cx="5219700" cy="2662833"/>
          </a:xfrm>
          <a:prstGeom prst="roundRect">
            <a:avLst>
              <a:gd fmla="val 2862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6438900" y="2139057"/>
            <a:ext cx="48007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TYPICAL REVIEWS IN THE MAPS PACK (RAW)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6438900" y="2492077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4B5563"/>
                </a:solidFill>
                <a:latin typeface="Manrope"/>
                <a:ea typeface="Manrope"/>
                <a:cs typeface="Manrope"/>
                <a:sym typeface="Manrope"/>
              </a:rPr>
              <a:t>32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7886700" y="2600623"/>
            <a:ext cx="2462294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business AI leaves out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6438900" y="3088977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142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7886700" y="3197523"/>
            <a:ext cx="1988210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named in AI Overviews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6438900" y="3685877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202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7886700" y="3794423"/>
            <a:ext cx="1683345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named by ChatGPT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815975" y="4703465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1035050" y="484634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1035050" y="508000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1216819" y="5080000"/>
            <a:ext cx="5106904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Make review requests a routine after every job, not a campaign.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1035050" y="534094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1216819" y="5340945"/>
            <a:ext cx="1378148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Reply to reviews.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19"/>
          <p:cNvCxnSpPr/>
          <p:nvPr/>
        </p:nvCxnSpPr>
        <p:spPr>
          <a:xfrm>
            <a:off x="7705725" y="4846340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19"/>
          <p:cNvSpPr/>
          <p:nvPr/>
        </p:nvSpPr>
        <p:spPr>
          <a:xfrm>
            <a:off x="7937500" y="484634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7937500" y="508000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Compare your total reviews with the businesses AI names for your search.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0"/>
          <p:cNvSpPr/>
          <p:nvPr/>
        </p:nvSpPr>
        <p:spPr>
          <a:xfrm>
            <a:off x="812800" y="533400"/>
            <a:ext cx="10883392" cy="232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96"/>
              <a:buFont typeface="Inter"/>
              <a:buNone/>
            </a:pPr>
            <a:r>
              <a:rPr b="1" lang="en-US" sz="119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REVIEWS AND PHOTOS</a:t>
            </a:r>
            <a:endParaRPr sz="11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812800" y="804267"/>
            <a:ext cx="10883392" cy="391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28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559"/>
              <a:buFont typeface="Manrope"/>
              <a:buNone/>
            </a:pPr>
            <a:r>
              <a:rPr lang="en-US" sz="2559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ChatGPT’s Picks Stand Out on Reviews and Photos.</a:t>
            </a:r>
            <a:endParaRPr sz="25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812800" y="1233388"/>
            <a:ext cx="10883392" cy="543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74"/>
              <a:buFont typeface="Inter"/>
              <a:buNone/>
            </a:pPr>
            <a:r>
              <a:rPr lang="en-US" sz="1374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Compared with businesses in neither AI surface, not Maps-only as on the last slide, so the numbers differ. The map pack barely differs.</a:t>
            </a:r>
            <a:endParaRPr sz="137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812800" y="1878806"/>
            <a:ext cx="10566400" cy="3035300"/>
          </a:xfrm>
          <a:prstGeom prst="roundRect">
            <a:avLst>
              <a:gd fmla="val 2510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1092200" y="2053034"/>
            <a:ext cx="52910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PERCENT MORE THAN BUSINESSES AI DOESN’T 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8129091" y="2096195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8319591" y="2053034"/>
            <a:ext cx="124727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ChatGPT-named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9693870" y="2096195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9884370" y="2053034"/>
            <a:ext cx="12662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pack 1 to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1092200" y="2498626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Google reviews (total)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3390900" y="2420541"/>
            <a:ext cx="23939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5911850" y="2355850"/>
            <a:ext cx="66605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+171.3%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3390900" y="2689721"/>
            <a:ext cx="26035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3778250" y="2625030"/>
            <a:ext cx="61853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+18.8%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3" name="Google Shape;643;p20"/>
          <p:cNvCxnSpPr/>
          <p:nvPr/>
        </p:nvCxnSpPr>
        <p:spPr>
          <a:xfrm>
            <a:off x="1092200" y="2952452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20"/>
          <p:cNvSpPr/>
          <p:nvPr/>
        </p:nvSpPr>
        <p:spPr>
          <a:xfrm>
            <a:off x="1092200" y="3071614"/>
            <a:ext cx="2158365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Reviews in the last 90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3390900" y="3100784"/>
            <a:ext cx="14605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4978400" y="3036094"/>
            <a:ext cx="71020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+104.7%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3390900" y="3369965"/>
            <a:ext cx="20955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3727450" y="3305274"/>
            <a:ext cx="61604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+14.9%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20"/>
          <p:cNvCxnSpPr/>
          <p:nvPr/>
        </p:nvCxnSpPr>
        <p:spPr>
          <a:xfrm>
            <a:off x="1092200" y="3632696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20"/>
          <p:cNvSpPr/>
          <p:nvPr/>
        </p:nvSpPr>
        <p:spPr>
          <a:xfrm>
            <a:off x="1092200" y="3821113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Photos on the 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3390900" y="3782318"/>
            <a:ext cx="12446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4762500" y="3717627"/>
            <a:ext cx="64522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+89.2%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3390900" y="3956348"/>
            <a:ext cx="14558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not clearly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p20"/>
          <p:cNvCxnSpPr/>
          <p:nvPr/>
        </p:nvCxnSpPr>
        <p:spPr>
          <a:xfrm>
            <a:off x="1092200" y="4236839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20"/>
          <p:cNvSpPr/>
          <p:nvPr/>
        </p:nvSpPr>
        <p:spPr>
          <a:xfrm>
            <a:off x="1092200" y="4425255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Posts in the last 90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3390900" y="4386560"/>
            <a:ext cx="3111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3829050" y="4321870"/>
            <a:ext cx="63896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+22.2%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3390900" y="4560590"/>
            <a:ext cx="14558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not clearly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815975" y="5044281"/>
            <a:ext cx="10560050" cy="985044"/>
          </a:xfrm>
          <a:prstGeom prst="roundRect">
            <a:avLst>
              <a:gd fmla="val 7413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1035050" y="5187156"/>
            <a:ext cx="6632067" cy="21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86"/>
              <a:buFont typeface="Inter"/>
              <a:buNone/>
            </a:pPr>
            <a:r>
              <a:rPr b="1" lang="en-US" sz="108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0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1035050" y="541526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1216819" y="5415260"/>
            <a:ext cx="362548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Keep reviews coming: recent ones count too.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1035050" y="566995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1216819" y="5669955"/>
            <a:ext cx="324163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Add photos of your work and your team.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20"/>
          <p:cNvCxnSpPr/>
          <p:nvPr/>
        </p:nvCxnSpPr>
        <p:spPr>
          <a:xfrm>
            <a:off x="7705725" y="5187156"/>
            <a:ext cx="0" cy="699294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20"/>
          <p:cNvSpPr/>
          <p:nvPr/>
        </p:nvSpPr>
        <p:spPr>
          <a:xfrm>
            <a:off x="7937500" y="5187156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7937500" y="5420816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Count your reviews from the last 90 days against the businesses ChatGPT names.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1"/>
          <p:cNvSpPr/>
          <p:nvPr/>
        </p:nvSpPr>
        <p:spPr>
          <a:xfrm>
            <a:off x="812800" y="533400"/>
            <a:ext cx="10883392" cy="2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59"/>
              <a:buFont typeface="Inter"/>
              <a:buNone/>
            </a:pPr>
            <a:r>
              <a:rPr b="1" lang="en-US" sz="1159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GOOGLE BUSINESS PROFILE</a:t>
            </a:r>
            <a:endParaRPr sz="11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812800" y="798413"/>
            <a:ext cx="10883392" cy="380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8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470"/>
              <a:buFont typeface="Manrope"/>
              <a:buNone/>
            </a:pPr>
            <a:r>
              <a:rPr lang="en-US" sz="247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AI-Named Businesses Have Fuller Google Profiles.</a:t>
            </a:r>
            <a:endParaRPr sz="24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812800" y="1217414"/>
            <a:ext cx="10883392" cy="277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7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47"/>
              <a:buFont typeface="Inter"/>
              <a:buNone/>
            </a:pPr>
            <a:r>
              <a:rPr lang="en-US" sz="1347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Compared with businesses AI doesn’t name: longer descriptions, more photos, more posts and more Q&amp;A.</a:t>
            </a:r>
            <a:endParaRPr sz="13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812800" y="1596330"/>
            <a:ext cx="10566400" cy="3122116"/>
          </a:xfrm>
          <a:prstGeom prst="roundRect">
            <a:avLst>
              <a:gd fmla="val 244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1092200" y="1767384"/>
            <a:ext cx="52910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PERCENT MORE THAN BUSINESSES AI DOESN’T 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8944074" y="1810544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9134574" y="1767384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10262989" y="1810544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10453489" y="1767384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1092200" y="2202557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Description length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3390900" y="2124472"/>
            <a:ext cx="21082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5626100" y="2059781"/>
            <a:ext cx="49103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+83%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3390900" y="2393652"/>
            <a:ext cx="26670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6184900" y="2328962"/>
            <a:ext cx="5715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+105%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21"/>
          <p:cNvCxnSpPr/>
          <p:nvPr/>
        </p:nvCxnSpPr>
        <p:spPr>
          <a:xfrm>
            <a:off x="1092200" y="2649041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21"/>
          <p:cNvSpPr/>
          <p:nvPr/>
        </p:nvSpPr>
        <p:spPr>
          <a:xfrm>
            <a:off x="1092200" y="2868116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Photos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3390900" y="2790031"/>
            <a:ext cx="18796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5397500" y="2725341"/>
            <a:ext cx="47585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+74%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3390900" y="3059212"/>
            <a:ext cx="22606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5778500" y="2994521"/>
            <a:ext cx="49758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+89%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21"/>
          <p:cNvCxnSpPr/>
          <p:nvPr/>
        </p:nvCxnSpPr>
        <p:spPr>
          <a:xfrm>
            <a:off x="1092200" y="3314502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21"/>
          <p:cNvSpPr/>
          <p:nvPr/>
        </p:nvSpPr>
        <p:spPr>
          <a:xfrm>
            <a:off x="1092200" y="3533577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Posts in the last 90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3390900" y="3455491"/>
            <a:ext cx="7112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4229100" y="3390801"/>
            <a:ext cx="49331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+28%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3390900" y="3724672"/>
            <a:ext cx="5588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4076700" y="3659981"/>
            <a:ext cx="49053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+22%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21"/>
          <p:cNvCxnSpPr/>
          <p:nvPr/>
        </p:nvCxnSpPr>
        <p:spPr>
          <a:xfrm>
            <a:off x="1092200" y="3979962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21"/>
          <p:cNvSpPr/>
          <p:nvPr/>
        </p:nvSpPr>
        <p:spPr>
          <a:xfrm>
            <a:off x="1092200" y="4199037"/>
            <a:ext cx="215836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Customer Q&amp;A questions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3390900" y="4120952"/>
            <a:ext cx="4318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3949700" y="4056261"/>
            <a:ext cx="45422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+17%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3390900" y="4390132"/>
            <a:ext cx="5588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4076700" y="4325441"/>
            <a:ext cx="49053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+22%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815975" y="4848622"/>
            <a:ext cx="10560050" cy="1180703"/>
          </a:xfrm>
          <a:prstGeom prst="roundRect">
            <a:avLst>
              <a:gd fmla="val 6185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1035050" y="4991497"/>
            <a:ext cx="6632067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52"/>
              <a:buFont typeface="Inter"/>
              <a:buNone/>
            </a:pPr>
            <a:r>
              <a:rPr b="1" lang="en-US" sz="1052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05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1035050" y="5214938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/>
          <p:nvPr/>
        </p:nvSpPr>
        <p:spPr>
          <a:xfrm>
            <a:off x="1216819" y="5214938"/>
            <a:ext cx="2406597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Fill in every part of the profile.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1"/>
          <p:cNvSpPr/>
          <p:nvPr/>
        </p:nvSpPr>
        <p:spPr>
          <a:xfrm>
            <a:off x="1035050" y="546417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1216819" y="5464175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Write a description that says what you do, where, and answers customer questions, AIO follow up questions and chatgpt fanout questions.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2" name="Google Shape;712;p21"/>
          <p:cNvCxnSpPr/>
          <p:nvPr/>
        </p:nvCxnSpPr>
        <p:spPr>
          <a:xfrm>
            <a:off x="7705725" y="4991497"/>
            <a:ext cx="0" cy="894953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21"/>
          <p:cNvSpPr/>
          <p:nvPr/>
        </p:nvSpPr>
        <p:spPr>
          <a:xfrm>
            <a:off x="7937500" y="4991497"/>
            <a:ext cx="3316034" cy="219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/>
          <p:nvPr/>
        </p:nvSpPr>
        <p:spPr>
          <a:xfrm>
            <a:off x="7937500" y="5223570"/>
            <a:ext cx="3316034" cy="68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15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88"/>
              <a:buFont typeface="Inter"/>
              <a:buNone/>
            </a:pPr>
            <a:r>
              <a:rPr lang="en-US" sz="1288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Put your profile next to the businesses AI names. What are they showing that you aren’t?</a:t>
            </a:r>
            <a:endParaRPr sz="12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1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2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GOOGLE BUSINESS PROFILE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Your Primary Category Should Be the Service People Search.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Compared with businesses whose primary category is the searched service. Maps ranks 4 to 10 show no clear difference.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812800" y="1643757"/>
            <a:ext cx="10566400" cy="2937073"/>
          </a:xfrm>
          <a:prstGeom prst="roundRect">
            <a:avLst>
              <a:gd fmla="val 259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2"/>
          <p:cNvSpPr/>
          <p:nvPr/>
        </p:nvSpPr>
        <p:spPr>
          <a:xfrm>
            <a:off x="1092200" y="1821557"/>
            <a:ext cx="283898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LESS OFTEN VISIBLE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1092200" y="2136477"/>
            <a:ext cx="10307828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searched service isn’t any of your categories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1092200" y="2466578"/>
            <a:ext cx="17145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2933700" y="2401888"/>
            <a:ext cx="100746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−19.3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4017367" y="2419648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1092200" y="2735759"/>
            <a:ext cx="17399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2959100" y="2671068"/>
            <a:ext cx="101401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−19.6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4049316" y="2688828"/>
            <a:ext cx="643235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1092200" y="3004939"/>
            <a:ext cx="21717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3390900" y="2940248"/>
            <a:ext cx="102999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−24.4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4497090" y="2958009"/>
            <a:ext cx="775891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Maps pack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p22"/>
          <p:cNvCxnSpPr/>
          <p:nvPr/>
        </p:nvCxnSpPr>
        <p:spPr>
          <a:xfrm>
            <a:off x="1092200" y="3276104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7" name="Google Shape;737;p22"/>
          <p:cNvSpPr/>
          <p:nvPr/>
        </p:nvSpPr>
        <p:spPr>
          <a:xfrm>
            <a:off x="1092200" y="3368179"/>
            <a:ext cx="10307828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searched service is only an extra category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1092200" y="3698280"/>
            <a:ext cx="12509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2470150" y="3633589"/>
            <a:ext cx="95934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−14.1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2"/>
          <p:cNvSpPr/>
          <p:nvPr/>
        </p:nvSpPr>
        <p:spPr>
          <a:xfrm>
            <a:off x="3505696" y="3651349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1092200" y="3967460"/>
            <a:ext cx="13525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2571750" y="3902770"/>
            <a:ext cx="100468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−15.2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/>
          <p:nvPr/>
        </p:nvSpPr>
        <p:spPr>
          <a:xfrm>
            <a:off x="3652639" y="3920530"/>
            <a:ext cx="643235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1092200" y="4236641"/>
            <a:ext cx="13716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2590800" y="4171950"/>
            <a:ext cx="100687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−15.4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3673872" y="4189710"/>
            <a:ext cx="775891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Maps pack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815975" y="4711005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2"/>
          <p:cNvSpPr/>
          <p:nvPr/>
        </p:nvSpPr>
        <p:spPr>
          <a:xfrm>
            <a:off x="1035050" y="485388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/>
          <p:nvPr/>
        </p:nvSpPr>
        <p:spPr>
          <a:xfrm>
            <a:off x="1035050" y="5087541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1216819" y="5087541"/>
            <a:ext cx="5908626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Set your primary category to the service people search, if you really do 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1035050" y="5348486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1216819" y="5348486"/>
            <a:ext cx="543086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List other services you offer as extra categories, not as the primary.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p22"/>
          <p:cNvCxnSpPr/>
          <p:nvPr/>
        </p:nvCxnSpPr>
        <p:spPr>
          <a:xfrm>
            <a:off x="7705725" y="4853880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22"/>
          <p:cNvSpPr/>
          <p:nvPr/>
        </p:nvSpPr>
        <p:spPr>
          <a:xfrm>
            <a:off x="7937500" y="485388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7937500" y="5087541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What primary category do the businesses AI names use?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3"/>
          <p:cNvSpPr/>
          <p:nvPr/>
        </p:nvSpPr>
        <p:spPr>
          <a:xfrm>
            <a:off x="812800" y="228887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812800" y="261649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Does My Site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812800" y="3224510"/>
            <a:ext cx="17367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Matter?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812800" y="3832523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What a site says about the business, and what goes with lower visibility.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Site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Category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9677400" y="37630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Focus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B87EC4">
                  <a:alpha val="61961"/>
                </a:srgbClr>
              </a:gs>
              <a:gs pos="100000">
                <a:srgbClr val="9B5BA5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B87EC4">
                  <a:alpha val="61961"/>
                </a:srgbClr>
              </a:gs>
              <a:gs pos="100000">
                <a:srgbClr val="9B5BA5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4"/>
          <p:cNvSpPr/>
          <p:nvPr/>
        </p:nvSpPr>
        <p:spPr>
          <a:xfrm>
            <a:off x="812800" y="533400"/>
            <a:ext cx="10883392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21"/>
              <a:buFont typeface="Inter"/>
              <a:buNone/>
            </a:pPr>
            <a:r>
              <a:rPr b="1" lang="en-US" sz="1121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YOUR WEBSITE: THE WHOLE SITE</a:t>
            </a:r>
            <a:endParaRPr sz="11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812800" y="796727"/>
            <a:ext cx="10883392" cy="37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8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470"/>
              <a:buFont typeface="Manrope"/>
              <a:buNone/>
            </a:pPr>
            <a:r>
              <a:rPr lang="en-US" sz="247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Sites That Stick to One Trade Are Named More.</a:t>
            </a:r>
            <a:endParaRPr sz="24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812800" y="1212751"/>
            <a:ext cx="10883392" cy="525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7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21"/>
              <a:buFont typeface="Inter"/>
              <a:buNone/>
            </a:pPr>
            <a:r>
              <a:rPr lang="en-US" sz="1321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Signals about what the whole site says: titles, page topics, how pages open. “+14 points” means named, for example, 22% of the time instead of 8%.</a:t>
            </a:r>
            <a:endParaRPr sz="13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812850" y="1860050"/>
            <a:ext cx="10566300" cy="3227400"/>
          </a:xfrm>
          <a:prstGeom prst="roundRect">
            <a:avLst>
              <a:gd fmla="val 2460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1092200" y="2009279"/>
            <a:ext cx="3461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MORE OFTEN NAMED BY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8944074" y="2052439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9134574" y="2009279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10262989" y="2052439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10453489" y="2009279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1092200" y="2440384"/>
            <a:ext cx="274701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Titles and URLs name your trade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3962400" y="2362299"/>
            <a:ext cx="13017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5391150" y="2297609"/>
            <a:ext cx="86518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3962400" y="2631480"/>
            <a:ext cx="14351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5524500" y="2566789"/>
            <a:ext cx="1012031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+15.4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24"/>
          <p:cNvCxnSpPr/>
          <p:nvPr/>
        </p:nvCxnSpPr>
        <p:spPr>
          <a:xfrm>
            <a:off x="1092200" y="2883991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24"/>
          <p:cNvSpPr/>
          <p:nvPr/>
        </p:nvSpPr>
        <p:spPr>
          <a:xfrm>
            <a:off x="1092200" y="2992934"/>
            <a:ext cx="2747010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More of each page is about its own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3962400" y="3022203"/>
            <a:ext cx="10604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4"/>
          <p:cNvSpPr/>
          <p:nvPr/>
        </p:nvSpPr>
        <p:spPr>
          <a:xfrm>
            <a:off x="5149850" y="2957513"/>
            <a:ext cx="98097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+11.4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3962400" y="3291384"/>
            <a:ext cx="10414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5130800" y="3226693"/>
            <a:ext cx="9788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+11.2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24"/>
          <p:cNvCxnSpPr/>
          <p:nvPr/>
        </p:nvCxnSpPr>
        <p:spPr>
          <a:xfrm>
            <a:off x="1092200" y="3543895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24"/>
          <p:cNvSpPr/>
          <p:nvPr/>
        </p:nvSpPr>
        <p:spPr>
          <a:xfrm>
            <a:off x="1092200" y="3652838"/>
            <a:ext cx="2747010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whole site is centered on your trade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3962400" y="3682008"/>
            <a:ext cx="9207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5010150" y="3617317"/>
            <a:ext cx="94694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+9.9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3962400" y="3951188"/>
            <a:ext cx="9334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4"/>
          <p:cNvSpPr/>
          <p:nvPr/>
        </p:nvSpPr>
        <p:spPr>
          <a:xfrm>
            <a:off x="5022850" y="3886498"/>
            <a:ext cx="87342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+10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5" name="Google Shape;805;p24"/>
          <p:cNvCxnSpPr/>
          <p:nvPr/>
        </p:nvCxnSpPr>
        <p:spPr>
          <a:xfrm>
            <a:off x="1092200" y="4203700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6" name="Google Shape;806;p24"/>
          <p:cNvSpPr/>
          <p:nvPr/>
        </p:nvSpPr>
        <p:spPr>
          <a:xfrm>
            <a:off x="1092200" y="4312642"/>
            <a:ext cx="2747010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Landing page opens with the answer to the explicit query in the first 150 words.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3962400" y="4341912"/>
            <a:ext cx="25590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4"/>
          <p:cNvSpPr/>
          <p:nvPr/>
        </p:nvSpPr>
        <p:spPr>
          <a:xfrm>
            <a:off x="6648450" y="4277221"/>
            <a:ext cx="102294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+27.5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3962400" y="4611092"/>
            <a:ext cx="26352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6724650" y="4546402"/>
            <a:ext cx="103802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+28.3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815975" y="5066804"/>
            <a:ext cx="10560050" cy="962521"/>
          </a:xfrm>
          <a:prstGeom prst="roundRect">
            <a:avLst>
              <a:gd fmla="val 758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1035050" y="5209679"/>
            <a:ext cx="6632067" cy="208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52"/>
              <a:buFont typeface="Inter"/>
              <a:buNone/>
            </a:pPr>
            <a:r>
              <a:rPr b="1" lang="en-US" sz="1052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05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1035050" y="5430937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1216819" y="5430937"/>
            <a:ext cx="5948994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Make page titles and URLs name the same trade as your Google category.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1035050" y="5677694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1216819" y="5677694"/>
            <a:ext cx="5477362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Give each service its own page that opens by answering the search.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24"/>
          <p:cNvCxnSpPr/>
          <p:nvPr/>
        </p:nvCxnSpPr>
        <p:spPr>
          <a:xfrm>
            <a:off x="7705725" y="5209679"/>
            <a:ext cx="0" cy="67677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8" name="Google Shape;818;p24"/>
          <p:cNvSpPr/>
          <p:nvPr/>
        </p:nvSpPr>
        <p:spPr>
          <a:xfrm>
            <a:off x="7937500" y="5209679"/>
            <a:ext cx="3316034" cy="220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7937500" y="5442545"/>
            <a:ext cx="3316034" cy="469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Do your titles and URLs match your primary category?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5"/>
          <p:cNvSpPr/>
          <p:nvPr/>
        </p:nvSpPr>
        <p:spPr>
          <a:xfrm>
            <a:off x="812800" y="533400"/>
            <a:ext cx="10883392" cy="224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21"/>
              <a:buFont typeface="Inter"/>
              <a:buNone/>
            </a:pPr>
            <a:r>
              <a:rPr b="1" lang="en-US" sz="1121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YOUR WEBSITE: YOUR STRONGEST PAGES</a:t>
            </a:r>
            <a:endParaRPr sz="11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812800" y="796230"/>
            <a:ext cx="10883392" cy="376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997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429"/>
              <a:buFont typeface="Manrope"/>
              <a:buNone/>
            </a:pPr>
            <a:r>
              <a:rPr lang="en-US" sz="2429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Match Your Google Category, Not Your Homepage.</a:t>
            </a:r>
            <a:endParaRPr sz="242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/>
          <p:nvPr/>
        </p:nvSpPr>
        <p:spPr>
          <a:xfrm>
            <a:off x="812800" y="1211163"/>
            <a:ext cx="10883392" cy="52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08"/>
              <a:buFont typeface="Inter"/>
              <a:buNone/>
            </a:pPr>
            <a:r>
              <a:rPr lang="en-US" sz="1308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 different question from the last slide: how well do your strongest pages fit your category, against pages that only agree with your homepage?</a:t>
            </a:r>
            <a:endParaRPr sz="13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812800" y="1836539"/>
            <a:ext cx="10566400" cy="2928045"/>
          </a:xfrm>
          <a:prstGeom prst="roundRect">
            <a:avLst>
              <a:gd fmla="val 2602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/>
          <p:nvPr/>
        </p:nvSpPr>
        <p:spPr>
          <a:xfrm>
            <a:off x="1092200" y="2007295"/>
            <a:ext cx="3461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MORE OFTEN NAMED BY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>
            <a:off x="1092200" y="2315170"/>
            <a:ext cx="10307828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Best pages fit your Google category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5"/>
          <p:cNvSpPr/>
          <p:nvPr/>
        </p:nvSpPr>
        <p:spPr>
          <a:xfrm>
            <a:off x="1092200" y="2542480"/>
            <a:ext cx="10307828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Fit = how closely what a page is about matches the category. Points more often named, per step up in fit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5"/>
          <p:cNvSpPr/>
          <p:nvPr/>
        </p:nvSpPr>
        <p:spPr>
          <a:xfrm>
            <a:off x="1092200" y="2843510"/>
            <a:ext cx="19812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5"/>
          <p:cNvSpPr/>
          <p:nvPr/>
        </p:nvSpPr>
        <p:spPr>
          <a:xfrm>
            <a:off x="3200400" y="2778820"/>
            <a:ext cx="102393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+10.4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4300538" y="2796480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1092200" y="3087588"/>
            <a:ext cx="20764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3295650" y="3022898"/>
            <a:ext cx="102612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+10.9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5"/>
          <p:cNvSpPr/>
          <p:nvPr/>
        </p:nvSpPr>
        <p:spPr>
          <a:xfrm>
            <a:off x="4397970" y="3040559"/>
            <a:ext cx="643235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5"/>
          <p:cNvSpPr/>
          <p:nvPr/>
        </p:nvSpPr>
        <p:spPr>
          <a:xfrm>
            <a:off x="1092200" y="3331666"/>
            <a:ext cx="112395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2343150" y="3266976"/>
            <a:ext cx="94188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+5.9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3361234" y="3284637"/>
            <a:ext cx="775891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Maps pack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1092200" y="3575745"/>
            <a:ext cx="97155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2190750" y="3511054"/>
            <a:ext cx="89177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+5.1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5"/>
          <p:cNvSpPr/>
          <p:nvPr/>
        </p:nvSpPr>
        <p:spPr>
          <a:xfrm>
            <a:off x="3158728" y="3528715"/>
            <a:ext cx="100538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Organic top 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25"/>
          <p:cNvCxnSpPr/>
          <p:nvPr/>
        </p:nvCxnSpPr>
        <p:spPr>
          <a:xfrm>
            <a:off x="1092200" y="3834309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25"/>
          <p:cNvSpPr/>
          <p:nvPr/>
        </p:nvSpPr>
        <p:spPr>
          <a:xfrm>
            <a:off x="1092200" y="3926384"/>
            <a:ext cx="10307828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Pages only agree with your own homepage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1092200" y="4153694"/>
            <a:ext cx="10307828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Close to nothing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1092200" y="4443809"/>
            <a:ext cx="3238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1543050" y="4379119"/>
            <a:ext cx="89634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+1.7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2515592" y="4396879"/>
            <a:ext cx="92223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815975" y="4894759"/>
            <a:ext cx="10560050" cy="1134566"/>
          </a:xfrm>
          <a:prstGeom prst="roundRect">
            <a:avLst>
              <a:gd fmla="val 6436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1035050" y="5037634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1035050" y="5271294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5"/>
          <p:cNvSpPr/>
          <p:nvPr/>
        </p:nvSpPr>
        <p:spPr>
          <a:xfrm>
            <a:off x="1216819" y="5271294"/>
            <a:ext cx="5507408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Build or rewrite service pages around your primary Google category.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1035050" y="553223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1216819" y="5532239"/>
            <a:ext cx="366227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add pages just to echo your homepage.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25"/>
          <p:cNvCxnSpPr/>
          <p:nvPr/>
        </p:nvCxnSpPr>
        <p:spPr>
          <a:xfrm>
            <a:off x="7705725" y="5037634"/>
            <a:ext cx="0" cy="84881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25"/>
          <p:cNvSpPr/>
          <p:nvPr/>
        </p:nvSpPr>
        <p:spPr>
          <a:xfrm>
            <a:off x="7937500" y="5037634"/>
            <a:ext cx="3316034" cy="208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52"/>
              <a:buFont typeface="Inter"/>
              <a:buNone/>
            </a:pPr>
            <a:r>
              <a:rPr b="1" lang="en-US" sz="1052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05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5"/>
          <p:cNvSpPr/>
          <p:nvPr/>
        </p:nvSpPr>
        <p:spPr>
          <a:xfrm>
            <a:off x="7937500" y="5259189"/>
            <a:ext cx="3316034" cy="652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84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72"/>
              <a:buFont typeface="Inter"/>
              <a:buNone/>
            </a:pPr>
            <a:r>
              <a:rPr lang="en-US" sz="1272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Open your five main pages. Would a stranger say each is about your category?</a:t>
            </a:r>
            <a:endParaRPr sz="12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6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OFF-TOPIC PAGES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6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Off-Topic Pages Go With Lower AI Visibility.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6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 page is off-topic when what it’s about is far from the business’s Google category.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6"/>
          <p:cNvSpPr/>
          <p:nvPr/>
        </p:nvSpPr>
        <p:spPr>
          <a:xfrm>
            <a:off x="812800" y="1644650"/>
            <a:ext cx="132705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4800"/>
              <a:buFont typeface="Manrope"/>
              <a:buNone/>
            </a:pPr>
            <a:r>
              <a:rPr b="1" lang="en-US" sz="48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9%+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6"/>
          <p:cNvSpPr/>
          <p:nvPr/>
        </p:nvSpPr>
        <p:spPr>
          <a:xfrm>
            <a:off x="763270" y="2474076"/>
            <a:ext cx="3401060" cy="7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of a site’s pages far from its Google category is where most of the drop sits.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6"/>
          <p:cNvSpPr/>
          <p:nvPr/>
        </p:nvSpPr>
        <p:spPr>
          <a:xfrm>
            <a:off x="4394200" y="1644650"/>
            <a:ext cx="6985000" cy="2400300"/>
          </a:xfrm>
          <a:prstGeom prst="roundRect">
            <a:avLst>
              <a:gd fmla="val 3175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6"/>
          <p:cNvSpPr/>
          <p:nvPr/>
        </p:nvSpPr>
        <p:spPr>
          <a:xfrm>
            <a:off x="4648200" y="1822450"/>
            <a:ext cx="667131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LESS OFTEN NAMED: SITES WITH THE MOST OFF-TOPIC PAGES AGAINST THE FEWEST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6"/>
          <p:cNvSpPr/>
          <p:nvPr/>
        </p:nvSpPr>
        <p:spPr>
          <a:xfrm>
            <a:off x="4648200" y="2358926"/>
            <a:ext cx="14478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6"/>
          <p:cNvSpPr/>
          <p:nvPr/>
        </p:nvSpPr>
        <p:spPr>
          <a:xfrm>
            <a:off x="6248400" y="2415381"/>
            <a:ext cx="14795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6"/>
          <p:cNvSpPr/>
          <p:nvPr/>
        </p:nvSpPr>
        <p:spPr>
          <a:xfrm>
            <a:off x="7854950" y="2350691"/>
            <a:ext cx="86002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−14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26"/>
          <p:cNvCxnSpPr/>
          <p:nvPr/>
        </p:nvCxnSpPr>
        <p:spPr>
          <a:xfrm>
            <a:off x="4648200" y="2686546"/>
            <a:ext cx="64770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26"/>
          <p:cNvSpPr/>
          <p:nvPr/>
        </p:nvSpPr>
        <p:spPr>
          <a:xfrm>
            <a:off x="4648200" y="2786856"/>
            <a:ext cx="14478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6"/>
          <p:cNvSpPr/>
          <p:nvPr/>
        </p:nvSpPr>
        <p:spPr>
          <a:xfrm>
            <a:off x="6248400" y="2843312"/>
            <a:ext cx="19050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6"/>
          <p:cNvSpPr/>
          <p:nvPr/>
        </p:nvSpPr>
        <p:spPr>
          <a:xfrm>
            <a:off x="8280400" y="2778621"/>
            <a:ext cx="86062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−18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1" name="Google Shape;881;p26"/>
          <p:cNvCxnSpPr/>
          <p:nvPr/>
        </p:nvCxnSpPr>
        <p:spPr>
          <a:xfrm>
            <a:off x="4648200" y="3114477"/>
            <a:ext cx="64770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2" name="Google Shape;882;p26"/>
          <p:cNvSpPr/>
          <p:nvPr/>
        </p:nvSpPr>
        <p:spPr>
          <a:xfrm>
            <a:off x="4648200" y="3214787"/>
            <a:ext cx="14478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pack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6"/>
          <p:cNvSpPr/>
          <p:nvPr/>
        </p:nvSpPr>
        <p:spPr>
          <a:xfrm>
            <a:off x="6248400" y="3271242"/>
            <a:ext cx="116205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6"/>
          <p:cNvSpPr/>
          <p:nvPr/>
        </p:nvSpPr>
        <p:spPr>
          <a:xfrm>
            <a:off x="7537450" y="3206552"/>
            <a:ext cx="83185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−11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26"/>
          <p:cNvCxnSpPr/>
          <p:nvPr/>
        </p:nvCxnSpPr>
        <p:spPr>
          <a:xfrm>
            <a:off x="4648200" y="3542407"/>
            <a:ext cx="64770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26"/>
          <p:cNvSpPr/>
          <p:nvPr/>
        </p:nvSpPr>
        <p:spPr>
          <a:xfrm>
            <a:off x="4648200" y="3642717"/>
            <a:ext cx="14478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Organic top 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6"/>
          <p:cNvSpPr/>
          <p:nvPr/>
        </p:nvSpPr>
        <p:spPr>
          <a:xfrm>
            <a:off x="6248400" y="3699173"/>
            <a:ext cx="74295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6"/>
          <p:cNvSpPr/>
          <p:nvPr/>
        </p:nvSpPr>
        <p:spPr>
          <a:xfrm>
            <a:off x="7118350" y="3634482"/>
            <a:ext cx="77529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−7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6"/>
          <p:cNvSpPr/>
          <p:nvPr/>
        </p:nvSpPr>
        <p:spPr>
          <a:xfrm>
            <a:off x="815975" y="4175125"/>
            <a:ext cx="10560050" cy="1231900"/>
          </a:xfrm>
          <a:prstGeom prst="roundRect">
            <a:avLst>
              <a:gd fmla="val 5928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6"/>
          <p:cNvSpPr/>
          <p:nvPr/>
        </p:nvSpPr>
        <p:spPr>
          <a:xfrm>
            <a:off x="1035050" y="431800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6"/>
          <p:cNvSpPr/>
          <p:nvPr/>
        </p:nvSpPr>
        <p:spPr>
          <a:xfrm>
            <a:off x="1035050" y="455166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6"/>
          <p:cNvSpPr/>
          <p:nvPr/>
        </p:nvSpPr>
        <p:spPr>
          <a:xfrm>
            <a:off x="1216819" y="4551660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Audit your site for pages on services you don’t offer or that don’t fit your category.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6"/>
          <p:cNvSpPr/>
          <p:nvPr/>
        </p:nvSpPr>
        <p:spPr>
          <a:xfrm>
            <a:off x="1035050" y="5035451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6"/>
          <p:cNvSpPr/>
          <p:nvPr/>
        </p:nvSpPr>
        <p:spPr>
          <a:xfrm>
            <a:off x="1216819" y="5035451"/>
            <a:ext cx="2658918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Fold, merge or remove the worst.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26"/>
          <p:cNvCxnSpPr/>
          <p:nvPr/>
        </p:nvCxnSpPr>
        <p:spPr>
          <a:xfrm>
            <a:off x="7705725" y="4318000"/>
            <a:ext cx="0" cy="94615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26"/>
          <p:cNvSpPr/>
          <p:nvPr/>
        </p:nvSpPr>
        <p:spPr>
          <a:xfrm>
            <a:off x="7937500" y="431800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6"/>
          <p:cNvSpPr/>
          <p:nvPr/>
        </p:nvSpPr>
        <p:spPr>
          <a:xfrm>
            <a:off x="7937500" y="4551660"/>
            <a:ext cx="3316034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What share of your pages is off-topic? The drop concentrates in sites at 9% or more.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7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OFF-TOPIC PAGES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7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Even Two Off-Topic Pages Already Show a Gap.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7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Counting off-topic pages adds to the share result. It fades when drift is measured against a site’s own core.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7"/>
          <p:cNvSpPr/>
          <p:nvPr/>
        </p:nvSpPr>
        <p:spPr>
          <a:xfrm>
            <a:off x="815975" y="1646932"/>
            <a:ext cx="3397250" cy="2223691"/>
          </a:xfrm>
          <a:prstGeom prst="roundRect">
            <a:avLst>
              <a:gd fmla="val 3284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7"/>
          <p:cNvSpPr/>
          <p:nvPr/>
        </p:nvSpPr>
        <p:spPr>
          <a:xfrm>
            <a:off x="1073150" y="1878707"/>
            <a:ext cx="29693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−11 points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7"/>
          <p:cNvSpPr/>
          <p:nvPr/>
        </p:nvSpPr>
        <p:spPr>
          <a:xfrm>
            <a:off x="1073150" y="2412107"/>
            <a:ext cx="2969387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2 or more clearly off-topic pages: named less often in AI Overviews than similar sites with none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7"/>
          <p:cNvSpPr/>
          <p:nvPr/>
        </p:nvSpPr>
        <p:spPr>
          <a:xfrm>
            <a:off x="1073175" y="3467863"/>
            <a:ext cx="2969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ChatGPT −9.6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7"/>
          <p:cNvSpPr/>
          <p:nvPr/>
        </p:nvSpPr>
        <p:spPr>
          <a:xfrm>
            <a:off x="4397375" y="1646932"/>
            <a:ext cx="3397250" cy="2223691"/>
          </a:xfrm>
          <a:prstGeom prst="roundRect">
            <a:avLst>
              <a:gd fmla="val 3284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7"/>
          <p:cNvSpPr/>
          <p:nvPr/>
        </p:nvSpPr>
        <p:spPr>
          <a:xfrm>
            <a:off x="4654550" y="1878707"/>
            <a:ext cx="29693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−7.5 points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7"/>
          <p:cNvSpPr/>
          <p:nvPr/>
        </p:nvSpPr>
        <p:spPr>
          <a:xfrm>
            <a:off x="4654550" y="2412107"/>
            <a:ext cx="2969387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For every 6 times more off-topic pages, AI Overviews name a site less often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7"/>
          <p:cNvSpPr/>
          <p:nvPr/>
        </p:nvSpPr>
        <p:spPr>
          <a:xfrm>
            <a:off x="4654550" y="3532825"/>
            <a:ext cx="296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ChatGPT −6.3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7"/>
          <p:cNvSpPr/>
          <p:nvPr/>
        </p:nvSpPr>
        <p:spPr>
          <a:xfrm>
            <a:off x="7978775" y="1646932"/>
            <a:ext cx="3397250" cy="2223691"/>
          </a:xfrm>
          <a:prstGeom prst="roundRect">
            <a:avLst>
              <a:gd fmla="val 3284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7"/>
          <p:cNvSpPr/>
          <p:nvPr/>
        </p:nvSpPr>
        <p:spPr>
          <a:xfrm>
            <a:off x="8235950" y="1878707"/>
            <a:ext cx="296938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060"/>
              <a:buFont typeface="Manrope"/>
              <a:buNone/>
            </a:pPr>
            <a:r>
              <a:rPr b="1" lang="en-US" sz="306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9% vs 22% vs 32%</a:t>
            </a:r>
            <a:br>
              <a:rPr b="1" lang="en-US" sz="306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3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7"/>
          <p:cNvSpPr/>
          <p:nvPr/>
        </p:nvSpPr>
        <p:spPr>
          <a:xfrm>
            <a:off x="8235949" y="2896614"/>
            <a:ext cx="29694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945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295"/>
              <a:buFont typeface="Inter"/>
              <a:buNone/>
            </a:pPr>
            <a:r>
              <a:rPr lang="en-US" sz="1295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Share of content that is off-topic, compared to maps only and control group</a:t>
            </a:r>
            <a:endParaRPr sz="129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7"/>
          <p:cNvSpPr/>
          <p:nvPr/>
        </p:nvSpPr>
        <p:spPr>
          <a:xfrm>
            <a:off x="8235950" y="3655091"/>
            <a:ext cx="2969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AI-named · Maps-only · neither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7"/>
          <p:cNvSpPr/>
          <p:nvPr/>
        </p:nvSpPr>
        <p:spPr>
          <a:xfrm>
            <a:off x="815975" y="4003973"/>
            <a:ext cx="10560050" cy="1187946"/>
          </a:xfrm>
          <a:prstGeom prst="roundRect">
            <a:avLst>
              <a:gd fmla="val 614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7"/>
          <p:cNvSpPr/>
          <p:nvPr/>
        </p:nvSpPr>
        <p:spPr>
          <a:xfrm>
            <a:off x="1035050" y="4146848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7"/>
          <p:cNvSpPr/>
          <p:nvPr/>
        </p:nvSpPr>
        <p:spPr>
          <a:xfrm>
            <a:off x="1035050" y="4380508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7"/>
          <p:cNvSpPr/>
          <p:nvPr/>
        </p:nvSpPr>
        <p:spPr>
          <a:xfrm>
            <a:off x="1216819" y="4380508"/>
            <a:ext cx="576453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Count your clearly off-topic pages. Even a handful is worth cleaning up.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7"/>
          <p:cNvSpPr/>
          <p:nvPr/>
        </p:nvSpPr>
        <p:spPr>
          <a:xfrm>
            <a:off x="1035050" y="4641453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7"/>
          <p:cNvSpPr/>
          <p:nvPr/>
        </p:nvSpPr>
        <p:spPr>
          <a:xfrm>
            <a:off x="1216819" y="4641453"/>
            <a:ext cx="438295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Strengthen your best on-topic pages at the same time.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27"/>
          <p:cNvCxnSpPr/>
          <p:nvPr/>
        </p:nvCxnSpPr>
        <p:spPr>
          <a:xfrm>
            <a:off x="7705725" y="4146848"/>
            <a:ext cx="0" cy="90219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27"/>
          <p:cNvSpPr/>
          <p:nvPr/>
        </p:nvSpPr>
        <p:spPr>
          <a:xfrm>
            <a:off x="7937500" y="4146848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7"/>
          <p:cNvSpPr/>
          <p:nvPr/>
        </p:nvSpPr>
        <p:spPr>
          <a:xfrm>
            <a:off x="7937500" y="4380508"/>
            <a:ext cx="3316034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How many pages could you delete or merge without losing a service you actually sell?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28"/>
          <p:cNvSpPr/>
          <p:nvPr/>
        </p:nvSpPr>
        <p:spPr>
          <a:xfrm>
            <a:off x="812800" y="242222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812800" y="274984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Where Do Maps and AI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812800" y="3357850"/>
            <a:ext cx="4857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Disagree?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8"/>
          <p:cNvSpPr/>
          <p:nvPr/>
        </p:nvSpPr>
        <p:spPr>
          <a:xfrm>
            <a:off x="812800" y="3965873"/>
            <a:ext cx="588645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The same trait can go with more Maps visibility and less AI visibility.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8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ECB450">
                  <a:alpha val="92157"/>
                </a:srgbClr>
              </a:gs>
              <a:gs pos="100000">
                <a:srgbClr val="B8892F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8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Chains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8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ECB450">
                  <a:alpha val="92157"/>
                </a:srgbClr>
              </a:gs>
              <a:gs pos="100000">
                <a:srgbClr val="B8892F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8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Reddit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8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ECB450">
                  <a:alpha val="92157"/>
                </a:srgbClr>
              </a:gs>
              <a:gs pos="100000">
                <a:srgbClr val="B8892F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8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ECB450">
                  <a:alpha val="63922"/>
                </a:srgbClr>
              </a:gs>
              <a:gs pos="100000">
                <a:srgbClr val="B8892F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8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ECB450">
                  <a:alpha val="63922"/>
                </a:srgbClr>
              </a:gs>
              <a:gs pos="100000">
                <a:srgbClr val="B8892F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9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CHAINS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Chains Do Fine on the Map and Poorly in AI Answers.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9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The clearest split between the map and AI: the same trait goes up on one and down on the other.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9"/>
          <p:cNvSpPr/>
          <p:nvPr/>
        </p:nvSpPr>
        <p:spPr>
          <a:xfrm>
            <a:off x="812800" y="1643757"/>
            <a:ext cx="5168900" cy="2245023"/>
          </a:xfrm>
          <a:prstGeom prst="roundRect">
            <a:avLst>
              <a:gd fmla="val 339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9"/>
          <p:cNvSpPr/>
          <p:nvPr/>
        </p:nvSpPr>
        <p:spPr>
          <a:xfrm>
            <a:off x="1066800" y="1821557"/>
            <a:ext cx="450149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CHAIN AGAINST SINGLE-LOCATION BUSINESS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1066800" y="2144713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top 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3175000" y="2201168"/>
            <a:ext cx="6604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9"/>
          <p:cNvSpPr/>
          <p:nvPr/>
        </p:nvSpPr>
        <p:spPr>
          <a:xfrm>
            <a:off x="3962400" y="2136477"/>
            <a:ext cx="928291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+7.4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7" name="Google Shape;957;p29"/>
          <p:cNvCxnSpPr/>
          <p:nvPr/>
        </p:nvCxnSpPr>
        <p:spPr>
          <a:xfrm>
            <a:off x="1066800" y="2472333"/>
            <a:ext cx="46609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p29"/>
          <p:cNvSpPr/>
          <p:nvPr/>
        </p:nvSpPr>
        <p:spPr>
          <a:xfrm>
            <a:off x="1066800" y="2572643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3175000" y="2629098"/>
            <a:ext cx="17843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9"/>
          <p:cNvSpPr/>
          <p:nvPr/>
        </p:nvSpPr>
        <p:spPr>
          <a:xfrm>
            <a:off x="4959350" y="2558050"/>
            <a:ext cx="1123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−20.1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1" name="Google Shape;961;p29"/>
          <p:cNvCxnSpPr/>
          <p:nvPr/>
        </p:nvCxnSpPr>
        <p:spPr>
          <a:xfrm>
            <a:off x="1066800" y="2900263"/>
            <a:ext cx="46609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29"/>
          <p:cNvSpPr/>
          <p:nvPr/>
        </p:nvSpPr>
        <p:spPr>
          <a:xfrm>
            <a:off x="1066800" y="3000573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9"/>
          <p:cNvSpPr/>
          <p:nvPr/>
        </p:nvSpPr>
        <p:spPr>
          <a:xfrm>
            <a:off x="3175000" y="3057029"/>
            <a:ext cx="22225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3813175" y="3161200"/>
            <a:ext cx="928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−25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9"/>
          <p:cNvSpPr/>
          <p:nvPr/>
        </p:nvSpPr>
        <p:spPr>
          <a:xfrm>
            <a:off x="6159500" y="1643757"/>
            <a:ext cx="5219700" cy="2245023"/>
          </a:xfrm>
          <a:prstGeom prst="roundRect">
            <a:avLst>
              <a:gd fmla="val 339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6438900" y="1872357"/>
            <a:ext cx="48007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READ IT CAREFULLY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9"/>
          <p:cNvSpPr/>
          <p:nvPr/>
        </p:nvSpPr>
        <p:spPr>
          <a:xfrm>
            <a:off x="6438900" y="2225377"/>
            <a:ext cx="480072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 chain is a business with several locations.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9"/>
          <p:cNvSpPr/>
          <p:nvPr/>
        </p:nvSpPr>
        <p:spPr>
          <a:xfrm>
            <a:off x="6438900" y="2596158"/>
            <a:ext cx="4800727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AI Overviews gap depends on how chain citations are counted: 11 to 23 points. ChatGPT is about −25 whichever way.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9"/>
          <p:cNvSpPr/>
          <p:nvPr/>
        </p:nvSpPr>
        <p:spPr>
          <a:xfrm>
            <a:off x="6438900" y="3429099"/>
            <a:ext cx="480072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Why chains lose is not known.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9"/>
          <p:cNvSpPr/>
          <p:nvPr/>
        </p:nvSpPr>
        <p:spPr>
          <a:xfrm>
            <a:off x="815975" y="4018955"/>
            <a:ext cx="10560050" cy="965101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9"/>
          <p:cNvSpPr/>
          <p:nvPr/>
        </p:nvSpPr>
        <p:spPr>
          <a:xfrm>
            <a:off x="1035050" y="416183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9"/>
          <p:cNvSpPr/>
          <p:nvPr/>
        </p:nvSpPr>
        <p:spPr>
          <a:xfrm>
            <a:off x="1035050" y="439549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9"/>
          <p:cNvSpPr/>
          <p:nvPr/>
        </p:nvSpPr>
        <p:spPr>
          <a:xfrm>
            <a:off x="1216819" y="4395490"/>
            <a:ext cx="6404580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Chains: give each location its own page and a complete profile. It’s a test to run.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4" name="Google Shape;974;p29"/>
          <p:cNvCxnSpPr/>
          <p:nvPr/>
        </p:nvCxnSpPr>
        <p:spPr>
          <a:xfrm>
            <a:off x="7705725" y="4161830"/>
            <a:ext cx="0" cy="6793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29"/>
          <p:cNvSpPr/>
          <p:nvPr/>
        </p:nvSpPr>
        <p:spPr>
          <a:xfrm>
            <a:off x="7937500" y="416183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9"/>
          <p:cNvSpPr/>
          <p:nvPr/>
        </p:nvSpPr>
        <p:spPr>
          <a:xfrm>
            <a:off x="7937500" y="439549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each location: which page is cited, the branch or the brand?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0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REDDIT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0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Reddit Threads Go With the Map Pack More Than With AI.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0"/>
          <p:cNvSpPr/>
          <p:nvPr/>
        </p:nvSpPr>
        <p:spPr>
          <a:xfrm>
            <a:off x="812800" y="1250057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Being named in 2 or more Reddit threads: a small gap, and not clear for AI. Whether AI reads Reddit is a separate question, coming up.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0"/>
          <p:cNvSpPr/>
          <p:nvPr/>
        </p:nvSpPr>
        <p:spPr>
          <a:xfrm>
            <a:off x="812800" y="1910457"/>
            <a:ext cx="10566400" cy="2573933"/>
          </a:xfrm>
          <a:prstGeom prst="roundRect">
            <a:avLst>
              <a:gd fmla="val 2960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0"/>
          <p:cNvSpPr/>
          <p:nvPr/>
        </p:nvSpPr>
        <p:spPr>
          <a:xfrm>
            <a:off x="1092200" y="2088257"/>
            <a:ext cx="415771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HOW MUCH MORE OFTEN THEY’RE NAMED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/>
          <p:nvPr/>
        </p:nvSpPr>
        <p:spPr>
          <a:xfrm>
            <a:off x="1092200" y="2411413"/>
            <a:ext cx="26162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pack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0"/>
          <p:cNvSpPr/>
          <p:nvPr/>
        </p:nvSpPr>
        <p:spPr>
          <a:xfrm>
            <a:off x="3835400" y="2467868"/>
            <a:ext cx="22733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6235700" y="2403177"/>
            <a:ext cx="94118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+3.6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30"/>
          <p:cNvCxnSpPr/>
          <p:nvPr/>
        </p:nvCxnSpPr>
        <p:spPr>
          <a:xfrm>
            <a:off x="1092200" y="273903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30"/>
          <p:cNvSpPr/>
          <p:nvPr/>
        </p:nvSpPr>
        <p:spPr>
          <a:xfrm>
            <a:off x="1092200" y="2839343"/>
            <a:ext cx="26162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rank 4 to 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0"/>
          <p:cNvSpPr/>
          <p:nvPr/>
        </p:nvSpPr>
        <p:spPr>
          <a:xfrm>
            <a:off x="3835400" y="2895798"/>
            <a:ext cx="202565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5988050" y="2831108"/>
            <a:ext cx="93682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+3.2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5" name="Google Shape;995;p30"/>
          <p:cNvCxnSpPr/>
          <p:nvPr/>
        </p:nvCxnSpPr>
        <p:spPr>
          <a:xfrm>
            <a:off x="1092200" y="316696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6" name="Google Shape;996;p30"/>
          <p:cNvSpPr/>
          <p:nvPr/>
        </p:nvSpPr>
        <p:spPr>
          <a:xfrm>
            <a:off x="1092200" y="3259038"/>
            <a:ext cx="26162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0"/>
          <p:cNvSpPr/>
          <p:nvPr/>
        </p:nvSpPr>
        <p:spPr>
          <a:xfrm>
            <a:off x="1092200" y="3486348"/>
            <a:ext cx="261620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+1.3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3835400" y="3365004"/>
            <a:ext cx="14558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not clearly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9" name="Google Shape;999;p30"/>
          <p:cNvCxnSpPr/>
          <p:nvPr/>
        </p:nvCxnSpPr>
        <p:spPr>
          <a:xfrm>
            <a:off x="1092200" y="3789164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0" name="Google Shape;1000;p30"/>
          <p:cNvSpPr/>
          <p:nvPr/>
        </p:nvSpPr>
        <p:spPr>
          <a:xfrm>
            <a:off x="1092200" y="3881239"/>
            <a:ext cx="26162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0"/>
          <p:cNvSpPr/>
          <p:nvPr/>
        </p:nvSpPr>
        <p:spPr>
          <a:xfrm>
            <a:off x="1092200" y="4108549"/>
            <a:ext cx="261620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+1.0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0"/>
          <p:cNvSpPr/>
          <p:nvPr/>
        </p:nvSpPr>
        <p:spPr>
          <a:xfrm>
            <a:off x="3835400" y="3987205"/>
            <a:ext cx="14558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not clearly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0"/>
          <p:cNvSpPr/>
          <p:nvPr/>
        </p:nvSpPr>
        <p:spPr>
          <a:xfrm>
            <a:off x="815975" y="4614565"/>
            <a:ext cx="10560050" cy="965101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1035050" y="475744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0"/>
          <p:cNvSpPr/>
          <p:nvPr/>
        </p:nvSpPr>
        <p:spPr>
          <a:xfrm>
            <a:off x="1035050" y="499110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0"/>
          <p:cNvSpPr/>
          <p:nvPr/>
        </p:nvSpPr>
        <p:spPr>
          <a:xfrm>
            <a:off x="1216819" y="4991100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count on Reddit mentions alone to get you named by AI: the gap is small and unclear on the AI side.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30"/>
          <p:cNvCxnSpPr/>
          <p:nvPr/>
        </p:nvCxnSpPr>
        <p:spPr>
          <a:xfrm>
            <a:off x="7705725" y="4757440"/>
            <a:ext cx="0" cy="6793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8" name="Google Shape;1008;p30"/>
          <p:cNvSpPr/>
          <p:nvPr/>
        </p:nvSpPr>
        <p:spPr>
          <a:xfrm>
            <a:off x="7937500" y="475744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7937500" y="499110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your business name plus “reddit”. Are you mentioned, and is it accurate?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1"/>
          <p:cNvSpPr/>
          <p:nvPr/>
        </p:nvSpPr>
        <p:spPr>
          <a:xfrm>
            <a:off x="812800" y="242222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MAPS AND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1"/>
          <p:cNvSpPr/>
          <p:nvPr/>
        </p:nvSpPr>
        <p:spPr>
          <a:xfrm>
            <a:off x="812800" y="274984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Who Else Has 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1"/>
          <p:cNvSpPr/>
          <p:nvPr/>
        </p:nvSpPr>
        <p:spPr>
          <a:xfrm>
            <a:off x="812800" y="3357860"/>
            <a:ext cx="296557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Say It Too?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1"/>
          <p:cNvSpPr/>
          <p:nvPr/>
        </p:nvSpPr>
        <p:spPr>
          <a:xfrm>
            <a:off x="812800" y="3965873"/>
            <a:ext cx="588645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Pages, mentions and links from other places.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1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1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1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1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Mentions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1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7889B7">
                  <a:alpha val="87843"/>
                </a:srgbClr>
              </a:gs>
              <a:gs pos="100000">
                <a:srgbClr val="5C6A99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1"/>
          <p:cNvSpPr/>
          <p:nvPr/>
        </p:nvSpPr>
        <p:spPr>
          <a:xfrm>
            <a:off x="9677400" y="37630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1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7889B7">
                  <a:alpha val="61961"/>
                </a:srgbClr>
              </a:gs>
              <a:gs pos="100000">
                <a:srgbClr val="5C6A99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1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7889B7">
                  <a:alpha val="61961"/>
                </a:srgbClr>
              </a:gs>
              <a:gs pos="100000">
                <a:srgbClr val="5C6A99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2"/>
          <p:cNvSpPr/>
          <p:nvPr/>
        </p:nvSpPr>
        <p:spPr>
          <a:xfrm>
            <a:off x="812800" y="533400"/>
            <a:ext cx="10883392" cy="234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96"/>
              <a:buFont typeface="Inter"/>
              <a:buNone/>
            </a:pPr>
            <a:r>
              <a:rPr b="1" lang="en-US" sz="119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OTHER PAGES</a:t>
            </a:r>
            <a:endParaRPr sz="11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2"/>
          <p:cNvSpPr/>
          <p:nvPr/>
        </p:nvSpPr>
        <p:spPr>
          <a:xfrm>
            <a:off x="812800" y="805755"/>
            <a:ext cx="1088339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28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559"/>
              <a:buFont typeface="Manrope"/>
              <a:buNone/>
            </a:pPr>
            <a:r>
              <a:rPr lang="en-US" sz="2559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The More Pages That Name You, The More Often AI Names You.</a:t>
            </a:r>
            <a:endParaRPr sz="25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2"/>
          <p:cNvSpPr/>
          <p:nvPr/>
        </p:nvSpPr>
        <p:spPr>
          <a:xfrm>
            <a:off x="812800" y="1237555"/>
            <a:ext cx="10883392" cy="2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83"/>
              <a:buFont typeface="Inter"/>
              <a:buNone/>
            </a:pPr>
            <a:r>
              <a:rPr lang="en-US" sz="1383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AI builds answers from pages it pulls up. Named on 3 or more pages? You are 26 to 38 points more often cited than competitors mentioned on one page.</a:t>
            </a:r>
            <a:endParaRPr sz="13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2"/>
          <p:cNvSpPr/>
          <p:nvPr/>
        </p:nvSpPr>
        <p:spPr>
          <a:xfrm>
            <a:off x="812800" y="1625699"/>
            <a:ext cx="10566400" cy="3283347"/>
          </a:xfrm>
          <a:prstGeom prst="roundRect">
            <a:avLst>
              <a:gd fmla="val 232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2"/>
          <p:cNvSpPr/>
          <p:nvPr/>
        </p:nvSpPr>
        <p:spPr>
          <a:xfrm>
            <a:off x="1092200" y="1775420"/>
            <a:ext cx="770889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HOW OFTEN A BUSINESS IS NAMED, BY HOW MANY OF THOSE PAGES NAME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2"/>
          <p:cNvSpPr/>
          <p:nvPr/>
        </p:nvSpPr>
        <p:spPr>
          <a:xfrm>
            <a:off x="8944074" y="1818580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2"/>
          <p:cNvSpPr/>
          <p:nvPr/>
        </p:nvSpPr>
        <p:spPr>
          <a:xfrm>
            <a:off x="9134574" y="1775420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2"/>
          <p:cNvSpPr/>
          <p:nvPr/>
        </p:nvSpPr>
        <p:spPr>
          <a:xfrm>
            <a:off x="10262989" y="1818580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2"/>
          <p:cNvSpPr/>
          <p:nvPr/>
        </p:nvSpPr>
        <p:spPr>
          <a:xfrm>
            <a:off x="10453489" y="1775420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2"/>
          <p:cNvSpPr/>
          <p:nvPr/>
        </p:nvSpPr>
        <p:spPr>
          <a:xfrm>
            <a:off x="1092200" y="2189262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Named on 1 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2"/>
          <p:cNvSpPr/>
          <p:nvPr/>
        </p:nvSpPr>
        <p:spPr>
          <a:xfrm>
            <a:off x="3200400" y="2141637"/>
            <a:ext cx="946150" cy="762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2"/>
          <p:cNvSpPr/>
          <p:nvPr/>
        </p:nvSpPr>
        <p:spPr>
          <a:xfrm>
            <a:off x="4273550" y="2082006"/>
            <a:ext cx="32464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2"/>
          <p:cNvSpPr/>
          <p:nvPr/>
        </p:nvSpPr>
        <p:spPr>
          <a:xfrm>
            <a:off x="3200400" y="2375297"/>
            <a:ext cx="1835150" cy="762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2"/>
          <p:cNvSpPr/>
          <p:nvPr/>
        </p:nvSpPr>
        <p:spPr>
          <a:xfrm>
            <a:off x="5162550" y="2315666"/>
            <a:ext cx="31908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31%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32"/>
          <p:cNvCxnSpPr/>
          <p:nvPr/>
        </p:nvCxnSpPr>
        <p:spPr>
          <a:xfrm>
            <a:off x="1092200" y="2610445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p32"/>
          <p:cNvSpPr/>
          <p:nvPr/>
        </p:nvSpPr>
        <p:spPr>
          <a:xfrm>
            <a:off x="1092200" y="2804319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2 pages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2"/>
          <p:cNvSpPr/>
          <p:nvPr/>
        </p:nvSpPr>
        <p:spPr>
          <a:xfrm>
            <a:off x="3200400" y="2756694"/>
            <a:ext cx="1898650" cy="762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2"/>
          <p:cNvSpPr/>
          <p:nvPr/>
        </p:nvSpPr>
        <p:spPr>
          <a:xfrm>
            <a:off x="5226050" y="2697063"/>
            <a:ext cx="34111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32%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2"/>
          <p:cNvSpPr/>
          <p:nvPr/>
        </p:nvSpPr>
        <p:spPr>
          <a:xfrm>
            <a:off x="3200400" y="2990354"/>
            <a:ext cx="2667000" cy="762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2"/>
          <p:cNvSpPr/>
          <p:nvPr/>
        </p:nvSpPr>
        <p:spPr>
          <a:xfrm>
            <a:off x="5994400" y="2930723"/>
            <a:ext cx="343495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45%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32"/>
          <p:cNvCxnSpPr/>
          <p:nvPr/>
        </p:nvCxnSpPr>
        <p:spPr>
          <a:xfrm>
            <a:off x="1092200" y="3225502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4" name="Google Shape;1054;p32"/>
          <p:cNvSpPr/>
          <p:nvPr/>
        </p:nvSpPr>
        <p:spPr>
          <a:xfrm>
            <a:off x="1092200" y="3419277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3 pages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2"/>
          <p:cNvSpPr/>
          <p:nvPr/>
        </p:nvSpPr>
        <p:spPr>
          <a:xfrm>
            <a:off x="3200400" y="3371652"/>
            <a:ext cx="2190750" cy="762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2"/>
          <p:cNvSpPr/>
          <p:nvPr/>
        </p:nvSpPr>
        <p:spPr>
          <a:xfrm>
            <a:off x="5518150" y="3312021"/>
            <a:ext cx="332383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37%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2"/>
          <p:cNvSpPr/>
          <p:nvPr/>
        </p:nvSpPr>
        <p:spPr>
          <a:xfrm>
            <a:off x="3200400" y="3605312"/>
            <a:ext cx="3257550" cy="762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2"/>
          <p:cNvSpPr/>
          <p:nvPr/>
        </p:nvSpPr>
        <p:spPr>
          <a:xfrm>
            <a:off x="6584950" y="3545681"/>
            <a:ext cx="340420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55%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32"/>
          <p:cNvCxnSpPr/>
          <p:nvPr/>
        </p:nvCxnSpPr>
        <p:spPr>
          <a:xfrm>
            <a:off x="1092200" y="3840460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0" name="Google Shape;1060;p32"/>
          <p:cNvSpPr/>
          <p:nvPr/>
        </p:nvSpPr>
        <p:spPr>
          <a:xfrm>
            <a:off x="1092200" y="4034334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4 pages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2"/>
          <p:cNvSpPr/>
          <p:nvPr/>
        </p:nvSpPr>
        <p:spPr>
          <a:xfrm>
            <a:off x="3200400" y="3986709"/>
            <a:ext cx="2133600" cy="762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2"/>
          <p:cNvSpPr/>
          <p:nvPr/>
        </p:nvSpPr>
        <p:spPr>
          <a:xfrm>
            <a:off x="5461000" y="3927078"/>
            <a:ext cx="344686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36%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2"/>
          <p:cNvSpPr/>
          <p:nvPr/>
        </p:nvSpPr>
        <p:spPr>
          <a:xfrm>
            <a:off x="3200400" y="4220369"/>
            <a:ext cx="3498850" cy="762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2"/>
          <p:cNvSpPr/>
          <p:nvPr/>
        </p:nvSpPr>
        <p:spPr>
          <a:xfrm>
            <a:off x="6826250" y="4160738"/>
            <a:ext cx="345380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59%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32"/>
          <p:cNvCxnSpPr/>
          <p:nvPr/>
        </p:nvCxnSpPr>
        <p:spPr>
          <a:xfrm>
            <a:off x="1092200" y="4455517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32"/>
          <p:cNvSpPr/>
          <p:nvPr/>
        </p:nvSpPr>
        <p:spPr>
          <a:xfrm>
            <a:off x="1092200" y="4544814"/>
            <a:ext cx="196215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5 or more pages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2"/>
          <p:cNvSpPr/>
          <p:nvPr/>
        </p:nvSpPr>
        <p:spPr>
          <a:xfrm>
            <a:off x="3200400" y="4613970"/>
            <a:ext cx="3378200" cy="762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2"/>
          <p:cNvSpPr/>
          <p:nvPr/>
        </p:nvSpPr>
        <p:spPr>
          <a:xfrm>
            <a:off x="6705600" y="4554339"/>
            <a:ext cx="33307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100"/>
              <a:buFont typeface="Manrope"/>
              <a:buNone/>
            </a:pPr>
            <a:r>
              <a:rPr b="1" lang="en-US" sz="11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57%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2"/>
          <p:cNvSpPr/>
          <p:nvPr/>
        </p:nvSpPr>
        <p:spPr>
          <a:xfrm>
            <a:off x="815975" y="5039221"/>
            <a:ext cx="10560050" cy="990104"/>
          </a:xfrm>
          <a:prstGeom prst="roundRect">
            <a:avLst>
              <a:gd fmla="val 7375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2"/>
          <p:cNvSpPr/>
          <p:nvPr/>
        </p:nvSpPr>
        <p:spPr>
          <a:xfrm>
            <a:off x="1035050" y="5182096"/>
            <a:ext cx="6632067" cy="216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86"/>
              <a:buFont typeface="Inter"/>
              <a:buNone/>
            </a:pPr>
            <a:r>
              <a:rPr b="1" lang="en-US" sz="108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0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2"/>
          <p:cNvSpPr/>
          <p:nvPr/>
        </p:nvSpPr>
        <p:spPr>
          <a:xfrm>
            <a:off x="1035050" y="5411788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2"/>
          <p:cNvSpPr/>
          <p:nvPr/>
        </p:nvSpPr>
        <p:spPr>
          <a:xfrm>
            <a:off x="1216819" y="5411788"/>
            <a:ext cx="617801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Find the pages AI pulls up for your service and city. Are you named on them?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2"/>
          <p:cNvSpPr/>
          <p:nvPr/>
        </p:nvSpPr>
        <p:spPr>
          <a:xfrm>
            <a:off x="1035050" y="566816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2"/>
          <p:cNvSpPr/>
          <p:nvPr/>
        </p:nvSpPr>
        <p:spPr>
          <a:xfrm>
            <a:off x="1216819" y="5668169"/>
            <a:ext cx="477436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Get named on more of them: directories, lists, local articles.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32"/>
          <p:cNvCxnSpPr/>
          <p:nvPr/>
        </p:nvCxnSpPr>
        <p:spPr>
          <a:xfrm>
            <a:off x="7705725" y="5182096"/>
            <a:ext cx="0" cy="704354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p32"/>
          <p:cNvSpPr/>
          <p:nvPr/>
        </p:nvSpPr>
        <p:spPr>
          <a:xfrm>
            <a:off x="7937500" y="5182096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2"/>
          <p:cNvSpPr/>
          <p:nvPr/>
        </p:nvSpPr>
        <p:spPr>
          <a:xfrm>
            <a:off x="7937500" y="5415756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How many of those pages name you, against your top competitor?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3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DIRECTORIES AND CITATIONS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3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ChatGPT Leans on Directories and Cited Pages.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3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Two comparisons: listings against businesses in neither AI surface; profiles and cited pages against Maps-only businesses.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3"/>
          <p:cNvSpPr/>
          <p:nvPr/>
        </p:nvSpPr>
        <p:spPr>
          <a:xfrm>
            <a:off x="812800" y="1643757"/>
            <a:ext cx="5194300" cy="2398713"/>
          </a:xfrm>
          <a:prstGeom prst="roundRect">
            <a:avLst>
              <a:gd fmla="val 3177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3"/>
          <p:cNvSpPr/>
          <p:nvPr/>
        </p:nvSpPr>
        <p:spPr>
          <a:xfrm>
            <a:off x="1041400" y="1821557"/>
            <a:ext cx="245129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10"/>
              <a:buFont typeface="Inter"/>
              <a:buNone/>
            </a:pPr>
            <a:r>
              <a:rPr b="1" lang="en-US" sz="111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MEASURED AGAINST: NEITHER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3"/>
          <p:cNvSpPr/>
          <p:nvPr/>
        </p:nvSpPr>
        <p:spPr>
          <a:xfrm>
            <a:off x="3622774" y="18647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3"/>
          <p:cNvSpPr/>
          <p:nvPr/>
        </p:nvSpPr>
        <p:spPr>
          <a:xfrm>
            <a:off x="3813274" y="1821557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4941689" y="18647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5132189" y="1821557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3"/>
          <p:cNvSpPr/>
          <p:nvPr/>
        </p:nvSpPr>
        <p:spPr>
          <a:xfrm>
            <a:off x="1041400" y="2136477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Directory listings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3"/>
          <p:cNvSpPr/>
          <p:nvPr/>
        </p:nvSpPr>
        <p:spPr>
          <a:xfrm>
            <a:off x="1041400" y="2363788"/>
            <a:ext cx="4879213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Percent more than businesses in neither AI surface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1041400" y="2677319"/>
            <a:ext cx="5715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3"/>
          <p:cNvSpPr/>
          <p:nvPr/>
        </p:nvSpPr>
        <p:spPr>
          <a:xfrm>
            <a:off x="1739900" y="2612628"/>
            <a:ext cx="46295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1041400" y="2946499"/>
            <a:ext cx="18288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3"/>
          <p:cNvSpPr/>
          <p:nvPr/>
        </p:nvSpPr>
        <p:spPr>
          <a:xfrm>
            <a:off x="2997200" y="2881809"/>
            <a:ext cx="4954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+48%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3"/>
          <p:cNvSpPr/>
          <p:nvPr/>
        </p:nvSpPr>
        <p:spPr>
          <a:xfrm>
            <a:off x="6184900" y="1643757"/>
            <a:ext cx="5194300" cy="2398713"/>
          </a:xfrm>
          <a:prstGeom prst="roundRect">
            <a:avLst>
              <a:gd fmla="val 3177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3"/>
          <p:cNvSpPr/>
          <p:nvPr/>
        </p:nvSpPr>
        <p:spPr>
          <a:xfrm>
            <a:off x="6413500" y="1821557"/>
            <a:ext cx="251787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20"/>
              <a:buFont typeface="Inter"/>
              <a:buNone/>
            </a:pPr>
            <a:r>
              <a:rPr b="1" lang="en-US" sz="102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MEASURED AGAINST: MAPS-ONLY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3"/>
          <p:cNvSpPr/>
          <p:nvPr/>
        </p:nvSpPr>
        <p:spPr>
          <a:xfrm>
            <a:off x="8994874" y="18647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3"/>
          <p:cNvSpPr/>
          <p:nvPr/>
        </p:nvSpPr>
        <p:spPr>
          <a:xfrm>
            <a:off x="9185374" y="1821557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10313789" y="18647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3"/>
          <p:cNvSpPr/>
          <p:nvPr/>
        </p:nvSpPr>
        <p:spPr>
          <a:xfrm>
            <a:off x="10504289" y="1821557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6413500" y="2136477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Has a Better Business Bureau 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3"/>
          <p:cNvSpPr/>
          <p:nvPr/>
        </p:nvSpPr>
        <p:spPr>
          <a:xfrm>
            <a:off x="6413500" y="2466578"/>
            <a:ext cx="7112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3"/>
          <p:cNvSpPr/>
          <p:nvPr/>
        </p:nvSpPr>
        <p:spPr>
          <a:xfrm>
            <a:off x="7251700" y="2401888"/>
            <a:ext cx="9788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+11.2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3"/>
          <p:cNvSpPr/>
          <p:nvPr/>
        </p:nvSpPr>
        <p:spPr>
          <a:xfrm>
            <a:off x="6413500" y="2735759"/>
            <a:ext cx="10160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3"/>
          <p:cNvSpPr/>
          <p:nvPr/>
        </p:nvSpPr>
        <p:spPr>
          <a:xfrm>
            <a:off x="7556500" y="2671068"/>
            <a:ext cx="86737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+16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0" name="Google Shape;1110;p33"/>
          <p:cNvCxnSpPr/>
          <p:nvPr/>
        </p:nvCxnSpPr>
        <p:spPr>
          <a:xfrm>
            <a:off x="6413500" y="3006923"/>
            <a:ext cx="47371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1" name="Google Shape;1111;p33"/>
          <p:cNvSpPr/>
          <p:nvPr/>
        </p:nvSpPr>
        <p:spPr>
          <a:xfrm>
            <a:off x="6413500" y="3098998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Listed on a page AI cites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3"/>
          <p:cNvSpPr/>
          <p:nvPr/>
        </p:nvSpPr>
        <p:spPr>
          <a:xfrm>
            <a:off x="6413500" y="3429099"/>
            <a:ext cx="2794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3"/>
          <p:cNvSpPr/>
          <p:nvPr/>
        </p:nvSpPr>
        <p:spPr>
          <a:xfrm>
            <a:off x="6819900" y="3364409"/>
            <a:ext cx="94019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+4.4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3"/>
          <p:cNvSpPr/>
          <p:nvPr/>
        </p:nvSpPr>
        <p:spPr>
          <a:xfrm>
            <a:off x="6413500" y="3698280"/>
            <a:ext cx="16764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3"/>
          <p:cNvSpPr/>
          <p:nvPr/>
        </p:nvSpPr>
        <p:spPr>
          <a:xfrm>
            <a:off x="8216900" y="3633589"/>
            <a:ext cx="104388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+26.4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3"/>
          <p:cNvSpPr/>
          <p:nvPr/>
        </p:nvSpPr>
        <p:spPr>
          <a:xfrm>
            <a:off x="815975" y="4172645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3"/>
          <p:cNvSpPr/>
          <p:nvPr/>
        </p:nvSpPr>
        <p:spPr>
          <a:xfrm>
            <a:off x="1035050" y="4315520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3"/>
          <p:cNvSpPr/>
          <p:nvPr/>
        </p:nvSpPr>
        <p:spPr>
          <a:xfrm>
            <a:off x="1035050" y="454918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3"/>
          <p:cNvSpPr/>
          <p:nvPr/>
        </p:nvSpPr>
        <p:spPr>
          <a:xfrm>
            <a:off x="1216819" y="4549180"/>
            <a:ext cx="609400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Keep name, address and phone identical on the directories your niche uses.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33"/>
          <p:cNvSpPr/>
          <p:nvPr/>
        </p:nvSpPr>
        <p:spPr>
          <a:xfrm>
            <a:off x="1035050" y="481012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3"/>
          <p:cNvSpPr/>
          <p:nvPr/>
        </p:nvSpPr>
        <p:spPr>
          <a:xfrm>
            <a:off x="1216819" y="4810125"/>
            <a:ext cx="338470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Claim your Better Business Bureau profile.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2" name="Google Shape;1122;p33"/>
          <p:cNvCxnSpPr/>
          <p:nvPr/>
        </p:nvCxnSpPr>
        <p:spPr>
          <a:xfrm>
            <a:off x="7705725" y="4315520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3" name="Google Shape;1123;p33"/>
          <p:cNvSpPr/>
          <p:nvPr/>
        </p:nvSpPr>
        <p:spPr>
          <a:xfrm>
            <a:off x="7937500" y="4315520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3"/>
          <p:cNvSpPr/>
          <p:nvPr/>
        </p:nvSpPr>
        <p:spPr>
          <a:xfrm>
            <a:off x="7937500" y="454918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your business name plus city. How many directories show you?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34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LIST ARTICLES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4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“Best Of” Lists Go With AI Visibility, but Newer Isn’t Better.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4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Being linked from a list goes with being named. But entries on fresher lists are named less often, not more.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34"/>
          <p:cNvSpPr/>
          <p:nvPr/>
        </p:nvSpPr>
        <p:spPr>
          <a:xfrm>
            <a:off x="812800" y="1631702"/>
            <a:ext cx="5194300" cy="1862832"/>
          </a:xfrm>
          <a:prstGeom prst="roundRect">
            <a:avLst>
              <a:gd fmla="val 409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4"/>
          <p:cNvSpPr/>
          <p:nvPr/>
        </p:nvSpPr>
        <p:spPr>
          <a:xfrm>
            <a:off x="947735" y="1823702"/>
            <a:ext cx="322446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MORE OFTEN NAMED, AGAINST NEITHER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4"/>
          <p:cNvSpPr/>
          <p:nvPr/>
        </p:nvSpPr>
        <p:spPr>
          <a:xfrm>
            <a:off x="3757529" y="2140944"/>
            <a:ext cx="126900" cy="1269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4"/>
          <p:cNvSpPr/>
          <p:nvPr/>
        </p:nvSpPr>
        <p:spPr>
          <a:xfrm>
            <a:off x="3960156" y="1934462"/>
            <a:ext cx="933622" cy="24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4"/>
          <p:cNvSpPr/>
          <p:nvPr/>
        </p:nvSpPr>
        <p:spPr>
          <a:xfrm>
            <a:off x="4836475" y="2140942"/>
            <a:ext cx="126900" cy="1269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4"/>
          <p:cNvSpPr/>
          <p:nvPr/>
        </p:nvSpPr>
        <p:spPr>
          <a:xfrm>
            <a:off x="5175188" y="2084438"/>
            <a:ext cx="728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4"/>
          <p:cNvSpPr/>
          <p:nvPr/>
        </p:nvSpPr>
        <p:spPr>
          <a:xfrm>
            <a:off x="1041400" y="2563118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Linked from a “best / top N” list article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4"/>
          <p:cNvSpPr/>
          <p:nvPr/>
        </p:nvSpPr>
        <p:spPr>
          <a:xfrm>
            <a:off x="1041400" y="2893219"/>
            <a:ext cx="7556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4"/>
          <p:cNvSpPr/>
          <p:nvPr/>
        </p:nvSpPr>
        <p:spPr>
          <a:xfrm>
            <a:off x="1924050" y="2828528"/>
            <a:ext cx="98315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+11.9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4"/>
          <p:cNvSpPr/>
          <p:nvPr/>
        </p:nvSpPr>
        <p:spPr>
          <a:xfrm>
            <a:off x="1041400" y="3162399"/>
            <a:ext cx="5080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4"/>
          <p:cNvSpPr/>
          <p:nvPr/>
        </p:nvSpPr>
        <p:spPr>
          <a:xfrm>
            <a:off x="1676400" y="3097709"/>
            <a:ext cx="79355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+8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4"/>
          <p:cNvSpPr/>
          <p:nvPr/>
        </p:nvSpPr>
        <p:spPr>
          <a:xfrm>
            <a:off x="6184900" y="1643757"/>
            <a:ext cx="5194300" cy="1862832"/>
          </a:xfrm>
          <a:prstGeom prst="roundRect">
            <a:avLst>
              <a:gd fmla="val 4091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4"/>
          <p:cNvSpPr/>
          <p:nvPr/>
        </p:nvSpPr>
        <p:spPr>
          <a:xfrm>
            <a:off x="6413500" y="1821557"/>
            <a:ext cx="2627544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NAMED LESS OFTEN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4"/>
          <p:cNvSpPr/>
          <p:nvPr/>
        </p:nvSpPr>
        <p:spPr>
          <a:xfrm>
            <a:off x="9116913" y="197137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4"/>
          <p:cNvSpPr/>
          <p:nvPr/>
        </p:nvSpPr>
        <p:spPr>
          <a:xfrm>
            <a:off x="9370913" y="1917998"/>
            <a:ext cx="930970" cy="233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4"/>
          <p:cNvSpPr/>
          <p:nvPr/>
        </p:nvSpPr>
        <p:spPr>
          <a:xfrm>
            <a:off x="10229708" y="2020077"/>
            <a:ext cx="126900" cy="1269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4"/>
          <p:cNvSpPr/>
          <p:nvPr/>
        </p:nvSpPr>
        <p:spPr>
          <a:xfrm>
            <a:off x="10428875" y="1981700"/>
            <a:ext cx="7935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4"/>
          <p:cNvSpPr/>
          <p:nvPr/>
        </p:nvSpPr>
        <p:spPr>
          <a:xfrm>
            <a:off x="6413500" y="2349798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List entries dated in the last year, against older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4"/>
          <p:cNvSpPr/>
          <p:nvPr/>
        </p:nvSpPr>
        <p:spPr>
          <a:xfrm>
            <a:off x="6413500" y="2679898"/>
            <a:ext cx="7302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4"/>
          <p:cNvSpPr/>
          <p:nvPr/>
        </p:nvSpPr>
        <p:spPr>
          <a:xfrm>
            <a:off x="7270750" y="2615208"/>
            <a:ext cx="937121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−4.6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34"/>
          <p:cNvSpPr/>
          <p:nvPr/>
        </p:nvSpPr>
        <p:spPr>
          <a:xfrm>
            <a:off x="6413500" y="2949079"/>
            <a:ext cx="14732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4"/>
          <p:cNvSpPr/>
          <p:nvPr/>
        </p:nvSpPr>
        <p:spPr>
          <a:xfrm>
            <a:off x="8013700" y="2884388"/>
            <a:ext cx="93513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−9.3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4"/>
          <p:cNvSpPr/>
          <p:nvPr/>
        </p:nvSpPr>
        <p:spPr>
          <a:xfrm>
            <a:off x="815975" y="3636764"/>
            <a:ext cx="10560050" cy="1187946"/>
          </a:xfrm>
          <a:prstGeom prst="roundRect">
            <a:avLst>
              <a:gd fmla="val 6147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4"/>
          <p:cNvSpPr/>
          <p:nvPr/>
        </p:nvSpPr>
        <p:spPr>
          <a:xfrm>
            <a:off x="1035050" y="3779639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4"/>
          <p:cNvSpPr/>
          <p:nvPr/>
        </p:nvSpPr>
        <p:spPr>
          <a:xfrm>
            <a:off x="1035050" y="401329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4"/>
          <p:cNvSpPr/>
          <p:nvPr/>
        </p:nvSpPr>
        <p:spPr>
          <a:xfrm>
            <a:off x="1216819" y="4013299"/>
            <a:ext cx="4221280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Get onto the list articles your local searches surface.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4"/>
          <p:cNvSpPr/>
          <p:nvPr/>
        </p:nvSpPr>
        <p:spPr>
          <a:xfrm>
            <a:off x="1035050" y="427424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4"/>
          <p:cNvSpPr/>
          <p:nvPr/>
        </p:nvSpPr>
        <p:spPr>
          <a:xfrm>
            <a:off x="1216819" y="4274245"/>
            <a:ext cx="3330852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refresh a list just to change its date.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34"/>
          <p:cNvCxnSpPr/>
          <p:nvPr/>
        </p:nvCxnSpPr>
        <p:spPr>
          <a:xfrm>
            <a:off x="7705725" y="3779639"/>
            <a:ext cx="0" cy="90219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3" name="Google Shape;1163;p34"/>
          <p:cNvSpPr/>
          <p:nvPr/>
        </p:nvSpPr>
        <p:spPr>
          <a:xfrm>
            <a:off x="7937500" y="3779639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4"/>
          <p:cNvSpPr/>
          <p:nvPr/>
        </p:nvSpPr>
        <p:spPr>
          <a:xfrm>
            <a:off x="7937500" y="4013299"/>
            <a:ext cx="3316034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Search “best [your service] in [your city]”. How old are the lists that name your competitors?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35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MENTIONS AND LINKS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5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Mentions and On-Topic Links Go With AI Visibility.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5"/>
          <p:cNvSpPr/>
          <p:nvPr/>
        </p:nvSpPr>
        <p:spPr>
          <a:xfrm>
            <a:off x="812800" y="1250057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ChatGPT-named businesses have more earned mentions on news outlets and high trust websites. AI-named businesses get more of their links from sites in their own trade.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5"/>
          <p:cNvSpPr/>
          <p:nvPr/>
        </p:nvSpPr>
        <p:spPr>
          <a:xfrm>
            <a:off x="812800" y="1910457"/>
            <a:ext cx="5194300" cy="1951732"/>
          </a:xfrm>
          <a:prstGeom prst="roundRect">
            <a:avLst>
              <a:gd fmla="val 390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1041400" y="2088257"/>
            <a:ext cx="366564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EARNED MENTIONS (PERCENT MORE)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5"/>
          <p:cNvSpPr/>
          <p:nvPr/>
        </p:nvSpPr>
        <p:spPr>
          <a:xfrm>
            <a:off x="1041400" y="2411413"/>
            <a:ext cx="15113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ChatGPT-named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5"/>
          <p:cNvSpPr/>
          <p:nvPr/>
        </p:nvSpPr>
        <p:spPr>
          <a:xfrm>
            <a:off x="2705100" y="2467868"/>
            <a:ext cx="12573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5"/>
          <p:cNvSpPr/>
          <p:nvPr/>
        </p:nvSpPr>
        <p:spPr>
          <a:xfrm>
            <a:off x="4089400" y="2403177"/>
            <a:ext cx="49103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+38%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9" name="Google Shape;1179;p35"/>
          <p:cNvCxnSpPr/>
          <p:nvPr/>
        </p:nvCxnSpPr>
        <p:spPr>
          <a:xfrm>
            <a:off x="1041400" y="2739033"/>
            <a:ext cx="47371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0" name="Google Shape;1180;p35"/>
          <p:cNvSpPr/>
          <p:nvPr/>
        </p:nvSpPr>
        <p:spPr>
          <a:xfrm>
            <a:off x="1041400" y="2839343"/>
            <a:ext cx="15113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Maps pack 1 to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5"/>
          <p:cNvSpPr/>
          <p:nvPr/>
        </p:nvSpPr>
        <p:spPr>
          <a:xfrm>
            <a:off x="2705100" y="2895798"/>
            <a:ext cx="7239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5"/>
          <p:cNvSpPr/>
          <p:nvPr/>
        </p:nvSpPr>
        <p:spPr>
          <a:xfrm>
            <a:off x="3556000" y="2831108"/>
            <a:ext cx="49053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+22%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3" name="Google Shape;1183;p35"/>
          <p:cNvCxnSpPr/>
          <p:nvPr/>
        </p:nvCxnSpPr>
        <p:spPr>
          <a:xfrm>
            <a:off x="1041400" y="3166963"/>
            <a:ext cx="47371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4" name="Google Shape;1184;p35"/>
          <p:cNvSpPr/>
          <p:nvPr/>
        </p:nvSpPr>
        <p:spPr>
          <a:xfrm>
            <a:off x="1041400" y="3259038"/>
            <a:ext cx="15113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5"/>
          <p:cNvSpPr/>
          <p:nvPr/>
        </p:nvSpPr>
        <p:spPr>
          <a:xfrm>
            <a:off x="1041400" y="3486348"/>
            <a:ext cx="151130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+6%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5"/>
          <p:cNvSpPr/>
          <p:nvPr/>
        </p:nvSpPr>
        <p:spPr>
          <a:xfrm>
            <a:off x="2705100" y="3365004"/>
            <a:ext cx="14558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not clearly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5"/>
          <p:cNvSpPr/>
          <p:nvPr/>
        </p:nvSpPr>
        <p:spPr>
          <a:xfrm>
            <a:off x="6184900" y="1910457"/>
            <a:ext cx="5194300" cy="1951732"/>
          </a:xfrm>
          <a:prstGeom prst="roundRect">
            <a:avLst>
              <a:gd fmla="val 390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5"/>
          <p:cNvSpPr/>
          <p:nvPr/>
        </p:nvSpPr>
        <p:spPr>
          <a:xfrm>
            <a:off x="6413500" y="2088257"/>
            <a:ext cx="14075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LINK QUALITY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5"/>
          <p:cNvSpPr/>
          <p:nvPr/>
        </p:nvSpPr>
        <p:spPr>
          <a:xfrm>
            <a:off x="8994874" y="21314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5"/>
          <p:cNvSpPr/>
          <p:nvPr/>
        </p:nvSpPr>
        <p:spPr>
          <a:xfrm>
            <a:off x="9185374" y="2088257"/>
            <a:ext cx="10014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Overviews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5"/>
          <p:cNvSpPr/>
          <p:nvPr/>
        </p:nvSpPr>
        <p:spPr>
          <a:xfrm>
            <a:off x="10313789" y="2131417"/>
            <a:ext cx="127000" cy="127000"/>
          </a:xfrm>
          <a:prstGeom prst="roundRect">
            <a:avLst>
              <a:gd fmla="val 3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5"/>
          <p:cNvSpPr/>
          <p:nvPr/>
        </p:nvSpPr>
        <p:spPr>
          <a:xfrm>
            <a:off x="10504289" y="2088257"/>
            <a:ext cx="697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5"/>
          <p:cNvSpPr/>
          <p:nvPr/>
        </p:nvSpPr>
        <p:spPr>
          <a:xfrm>
            <a:off x="6413500" y="2403177"/>
            <a:ext cx="4879213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Share of links from sites in your own trade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5"/>
          <p:cNvSpPr/>
          <p:nvPr/>
        </p:nvSpPr>
        <p:spPr>
          <a:xfrm>
            <a:off x="6413500" y="2630488"/>
            <a:ext cx="4879213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 higher than Maps businesses AI leaves 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5"/>
          <p:cNvSpPr/>
          <p:nvPr/>
        </p:nvSpPr>
        <p:spPr>
          <a:xfrm>
            <a:off x="6413500" y="2944019"/>
            <a:ext cx="14033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5"/>
          <p:cNvSpPr/>
          <p:nvPr/>
        </p:nvSpPr>
        <p:spPr>
          <a:xfrm>
            <a:off x="7943850" y="2879328"/>
            <a:ext cx="101342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+13.6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5"/>
          <p:cNvSpPr/>
          <p:nvPr/>
        </p:nvSpPr>
        <p:spPr>
          <a:xfrm>
            <a:off x="6413500" y="3213199"/>
            <a:ext cx="13525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5"/>
          <p:cNvSpPr/>
          <p:nvPr/>
        </p:nvSpPr>
        <p:spPr>
          <a:xfrm>
            <a:off x="7893050" y="3148509"/>
            <a:ext cx="96331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+13.1 points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5"/>
          <p:cNvSpPr/>
          <p:nvPr/>
        </p:nvSpPr>
        <p:spPr>
          <a:xfrm>
            <a:off x="815975" y="3992364"/>
            <a:ext cx="10560050" cy="1226046"/>
          </a:xfrm>
          <a:prstGeom prst="roundRect">
            <a:avLst>
              <a:gd fmla="val 5956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5"/>
          <p:cNvSpPr/>
          <p:nvPr/>
        </p:nvSpPr>
        <p:spPr>
          <a:xfrm>
            <a:off x="1035050" y="4135239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5"/>
          <p:cNvSpPr/>
          <p:nvPr/>
        </p:nvSpPr>
        <p:spPr>
          <a:xfrm>
            <a:off x="1035050" y="436889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5"/>
          <p:cNvSpPr/>
          <p:nvPr/>
        </p:nvSpPr>
        <p:spPr>
          <a:xfrm>
            <a:off x="1216819" y="4368899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Earn mentions and links from sites in your trade and area, pointed at your service pages.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5"/>
          <p:cNvSpPr/>
          <p:nvPr/>
        </p:nvSpPr>
        <p:spPr>
          <a:xfrm>
            <a:off x="1035050" y="485269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5"/>
          <p:cNvSpPr/>
          <p:nvPr/>
        </p:nvSpPr>
        <p:spPr>
          <a:xfrm>
            <a:off x="1216819" y="4852690"/>
            <a:ext cx="5105371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885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202"/>
              <a:buFont typeface="Inter"/>
              <a:buNone/>
            </a:pPr>
            <a:r>
              <a:rPr lang="en-US" sz="1203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Don’t count on homepage links: they don’t separate the groups.</a:t>
            </a:r>
            <a:endParaRPr sz="12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35"/>
          <p:cNvCxnSpPr/>
          <p:nvPr/>
        </p:nvCxnSpPr>
        <p:spPr>
          <a:xfrm>
            <a:off x="7705725" y="4135239"/>
            <a:ext cx="0" cy="94029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6" name="Google Shape;1206;p35"/>
          <p:cNvSpPr/>
          <p:nvPr/>
        </p:nvSpPr>
        <p:spPr>
          <a:xfrm>
            <a:off x="7937500" y="4135239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5"/>
          <p:cNvSpPr/>
          <p:nvPr/>
        </p:nvSpPr>
        <p:spPr>
          <a:xfrm>
            <a:off x="7937500" y="4368899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Where do the businesses AI names get their mentions and links?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6"/>
          <p:cNvSpPr/>
          <p:nvPr/>
        </p:nvSpPr>
        <p:spPr>
          <a:xfrm>
            <a:off x="812800" y="533400"/>
            <a:ext cx="10883392" cy="2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96"/>
              <a:buFont typeface="Inter"/>
              <a:buNone/>
            </a:pPr>
            <a:r>
              <a:rPr b="1" lang="en-US" sz="119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AI OVERVIEWS AND CHATGPT</a:t>
            </a:r>
            <a:endParaRPr sz="11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6"/>
          <p:cNvSpPr/>
          <p:nvPr/>
        </p:nvSpPr>
        <p:spPr>
          <a:xfrm>
            <a:off x="812800" y="803771"/>
            <a:ext cx="10883392" cy="390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973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519"/>
              <a:buFont typeface="Manrope"/>
              <a:buNone/>
            </a:pPr>
            <a:r>
              <a:rPr lang="en-US" sz="2519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They Agree on the Basics and Differ on the Extras.</a:t>
            </a:r>
            <a:endParaRPr sz="25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6"/>
          <p:cNvSpPr/>
          <p:nvPr/>
        </p:nvSpPr>
        <p:spPr>
          <a:xfrm>
            <a:off x="812800" y="1232098"/>
            <a:ext cx="10883392" cy="284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63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383"/>
              <a:buFont typeface="Inter"/>
              <a:buNone/>
            </a:pPr>
            <a:r>
              <a:rPr lang="en-US" sz="1383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Same kinds of businesses, different weights. Which surface matters most to your client?</a:t>
            </a:r>
            <a:endParaRPr sz="13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6"/>
          <p:cNvSpPr/>
          <p:nvPr/>
        </p:nvSpPr>
        <p:spPr>
          <a:xfrm>
            <a:off x="812800" y="1617762"/>
            <a:ext cx="3403600" cy="3080048"/>
          </a:xfrm>
          <a:prstGeom prst="roundRect">
            <a:avLst>
              <a:gd fmla="val 247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6"/>
          <p:cNvSpPr/>
          <p:nvPr/>
        </p:nvSpPr>
        <p:spPr>
          <a:xfrm>
            <a:off x="1041400" y="1808262"/>
            <a:ext cx="303479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Manrope"/>
              <a:buNone/>
            </a:pPr>
            <a:r>
              <a:rPr b="1" lang="en-US" sz="17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ChatGPT Leans Harder 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6"/>
          <p:cNvSpPr/>
          <p:nvPr/>
        </p:nvSpPr>
        <p:spPr>
          <a:xfrm>
            <a:off x="1041400" y="2020547"/>
            <a:ext cx="3034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Percent more than businesses AI doesn’t 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6"/>
          <p:cNvSpPr/>
          <p:nvPr/>
        </p:nvSpPr>
        <p:spPr>
          <a:xfrm>
            <a:off x="1041400" y="2458691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Google reviews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6"/>
          <p:cNvSpPr/>
          <p:nvPr/>
        </p:nvSpPr>
        <p:spPr>
          <a:xfrm>
            <a:off x="1041400" y="2730181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+171% vs +98% for AI Overviews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2" name="Google Shape;1222;p36"/>
          <p:cNvCxnSpPr/>
          <p:nvPr/>
        </p:nvCxnSpPr>
        <p:spPr>
          <a:xfrm>
            <a:off x="1041400" y="3204468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3" name="Google Shape;1223;p36"/>
          <p:cNvSpPr/>
          <p:nvPr/>
        </p:nvSpPr>
        <p:spPr>
          <a:xfrm>
            <a:off x="1041400" y="3283843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Directory listings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6"/>
          <p:cNvSpPr/>
          <p:nvPr/>
        </p:nvSpPr>
        <p:spPr>
          <a:xfrm>
            <a:off x="1041400" y="3511153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+48% vs +15%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5" name="Google Shape;1225;p36"/>
          <p:cNvCxnSpPr/>
          <p:nvPr/>
        </p:nvCxnSpPr>
        <p:spPr>
          <a:xfrm>
            <a:off x="1041400" y="3831828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6" name="Google Shape;1226;p36"/>
          <p:cNvSpPr/>
          <p:nvPr/>
        </p:nvSpPr>
        <p:spPr>
          <a:xfrm>
            <a:off x="1041400" y="3911203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Earned mentions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6"/>
          <p:cNvSpPr/>
          <p:nvPr/>
        </p:nvSpPr>
        <p:spPr>
          <a:xfrm>
            <a:off x="1041400" y="4138513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+38% vs not clear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6"/>
          <p:cNvSpPr/>
          <p:nvPr/>
        </p:nvSpPr>
        <p:spPr>
          <a:xfrm>
            <a:off x="4394200" y="1617762"/>
            <a:ext cx="3403600" cy="3080048"/>
          </a:xfrm>
          <a:prstGeom prst="roundRect">
            <a:avLst>
              <a:gd fmla="val 247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6"/>
          <p:cNvSpPr/>
          <p:nvPr/>
        </p:nvSpPr>
        <p:spPr>
          <a:xfrm>
            <a:off x="4622800" y="1808262"/>
            <a:ext cx="3034792" cy="27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42"/>
              <a:buFont typeface="Manrope"/>
              <a:buNone/>
            </a:pPr>
            <a:r>
              <a:rPr b="1" lang="en-US" sz="1642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AI Overviews Lean On</a:t>
            </a:r>
            <a:endParaRPr sz="1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6"/>
          <p:cNvSpPr/>
          <p:nvPr/>
        </p:nvSpPr>
        <p:spPr>
          <a:xfrm>
            <a:off x="4622800" y="2146697"/>
            <a:ext cx="3034792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91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66"/>
              <a:buFont typeface="Inter"/>
              <a:buNone/>
            </a:pPr>
            <a:r>
              <a:rPr lang="en-US" sz="1166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 different ways</a:t>
            </a:r>
            <a:endParaRPr sz="11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6"/>
          <p:cNvSpPr/>
          <p:nvPr/>
        </p:nvSpPr>
        <p:spPr>
          <a:xfrm>
            <a:off x="4622800" y="2433638"/>
            <a:ext cx="3034792" cy="438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3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9"/>
              <a:buFont typeface="Inter"/>
              <a:buNone/>
            </a:pPr>
            <a:r>
              <a:rPr lang="en-US" sz="1259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Business Profile cards on “best” searches</a:t>
            </a:r>
            <a:endParaRPr sz="12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6"/>
          <p:cNvSpPr/>
          <p:nvPr/>
        </p:nvSpPr>
        <p:spPr>
          <a:xfrm>
            <a:off x="4622800" y="2859484"/>
            <a:ext cx="3034792" cy="245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477"/>
              <a:buFont typeface="Manrope"/>
              <a:buNone/>
            </a:pPr>
            <a:r>
              <a:rPr b="1" lang="en-US" sz="1477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45.6% vs 8.0% on other searches</a:t>
            </a:r>
            <a:endParaRPr sz="14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3" name="Google Shape;1233;p36"/>
          <p:cNvCxnSpPr/>
          <p:nvPr/>
        </p:nvCxnSpPr>
        <p:spPr>
          <a:xfrm>
            <a:off x="4622800" y="3171527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4" name="Google Shape;1234;p36"/>
          <p:cNvSpPr/>
          <p:nvPr/>
        </p:nvSpPr>
        <p:spPr>
          <a:xfrm>
            <a:off x="4622800" y="3250902"/>
            <a:ext cx="3034792" cy="438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3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9"/>
              <a:buFont typeface="Inter"/>
              <a:buNone/>
            </a:pPr>
            <a:r>
              <a:rPr lang="en-US" sz="1259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Links from many sites (referring domains)</a:t>
            </a:r>
            <a:endParaRPr sz="12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6"/>
          <p:cNvSpPr/>
          <p:nvPr/>
        </p:nvSpPr>
        <p:spPr>
          <a:xfrm>
            <a:off x="4622800" y="3676749"/>
            <a:ext cx="3034792" cy="245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477"/>
              <a:buFont typeface="Manrope"/>
              <a:buNone/>
            </a:pPr>
            <a:r>
              <a:rPr b="1" lang="en-US" sz="1477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+14% vs no difference for ChatGPT</a:t>
            </a:r>
            <a:endParaRPr sz="14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6" name="Google Shape;1236;p36"/>
          <p:cNvCxnSpPr/>
          <p:nvPr/>
        </p:nvCxnSpPr>
        <p:spPr>
          <a:xfrm>
            <a:off x="4622800" y="3988792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36"/>
          <p:cNvSpPr/>
          <p:nvPr/>
        </p:nvSpPr>
        <p:spPr>
          <a:xfrm>
            <a:off x="4622800" y="4214205"/>
            <a:ext cx="3034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8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88"/>
              <a:buFont typeface="Inter"/>
              <a:buNone/>
            </a:pPr>
            <a:r>
              <a:rPr lang="en-US" sz="1288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Reddit and Facebook posts</a:t>
            </a:r>
            <a:endParaRPr sz="12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6"/>
          <p:cNvSpPr/>
          <p:nvPr/>
        </p:nvSpPr>
        <p:spPr>
          <a:xfrm>
            <a:off x="4716150" y="4471125"/>
            <a:ext cx="197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477"/>
              <a:buFont typeface="Manrope"/>
              <a:buNone/>
            </a:pPr>
            <a:r>
              <a:rPr b="1" lang="en-US" sz="1477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AI Overviews only</a:t>
            </a:r>
            <a:endParaRPr sz="147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6"/>
          <p:cNvSpPr/>
          <p:nvPr/>
        </p:nvSpPr>
        <p:spPr>
          <a:xfrm>
            <a:off x="7975600" y="1617762"/>
            <a:ext cx="3403600" cy="3080048"/>
          </a:xfrm>
          <a:prstGeom prst="roundRect">
            <a:avLst>
              <a:gd fmla="val 2474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6"/>
          <p:cNvSpPr/>
          <p:nvPr/>
        </p:nvSpPr>
        <p:spPr>
          <a:xfrm>
            <a:off x="8204200" y="1808262"/>
            <a:ext cx="303479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Manrope"/>
              <a:buNone/>
            </a:pPr>
            <a:r>
              <a:rPr b="1" lang="en-US" sz="17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Both Correlate With These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6"/>
          <p:cNvSpPr/>
          <p:nvPr/>
        </p:nvSpPr>
        <p:spPr>
          <a:xfrm>
            <a:off x="8204200" y="2156222"/>
            <a:ext cx="3034792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Points, AI Overviews and ChatGPT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6"/>
          <p:cNvSpPr/>
          <p:nvPr/>
        </p:nvSpPr>
        <p:spPr>
          <a:xfrm>
            <a:off x="8204200" y="2450802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Your category is off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6"/>
          <p:cNvSpPr/>
          <p:nvPr/>
        </p:nvSpPr>
        <p:spPr>
          <a:xfrm>
            <a:off x="8204200" y="2678113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−19.3 and −19.6 points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4" name="Google Shape;1244;p36"/>
          <p:cNvCxnSpPr/>
          <p:nvPr/>
        </p:nvCxnSpPr>
        <p:spPr>
          <a:xfrm>
            <a:off x="8204200" y="2998788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5" name="Google Shape;1245;p36"/>
          <p:cNvSpPr/>
          <p:nvPr/>
        </p:nvSpPr>
        <p:spPr>
          <a:xfrm>
            <a:off x="8204200" y="3078163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Best pages fit your category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6"/>
          <p:cNvSpPr/>
          <p:nvPr/>
        </p:nvSpPr>
        <p:spPr>
          <a:xfrm>
            <a:off x="8204200" y="3305473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+10.4 and +10.9 per step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7" name="Google Shape;1247;p36"/>
          <p:cNvCxnSpPr/>
          <p:nvPr/>
        </p:nvCxnSpPr>
        <p:spPr>
          <a:xfrm>
            <a:off x="8204200" y="3626148"/>
            <a:ext cx="29464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8" name="Google Shape;1248;p36"/>
          <p:cNvSpPr/>
          <p:nvPr/>
        </p:nvSpPr>
        <p:spPr>
          <a:xfrm>
            <a:off x="8204200" y="3705523"/>
            <a:ext cx="303479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Chain location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6"/>
          <p:cNvSpPr/>
          <p:nvPr/>
        </p:nvSpPr>
        <p:spPr>
          <a:xfrm>
            <a:off x="8204200" y="3932833"/>
            <a:ext cx="303479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−11 to −25 points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6"/>
          <p:cNvSpPr/>
          <p:nvPr/>
        </p:nvSpPr>
        <p:spPr>
          <a:xfrm>
            <a:off x="815975" y="4827984"/>
            <a:ext cx="10560050" cy="1201341"/>
          </a:xfrm>
          <a:prstGeom prst="roundRect">
            <a:avLst>
              <a:gd fmla="val 60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6"/>
          <p:cNvSpPr/>
          <p:nvPr/>
        </p:nvSpPr>
        <p:spPr>
          <a:xfrm>
            <a:off x="1035050" y="4970859"/>
            <a:ext cx="6632067" cy="2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086"/>
              <a:buFont typeface="Inter"/>
              <a:buNone/>
            </a:pPr>
            <a:r>
              <a:rPr b="1" lang="en-US" sz="1086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0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6"/>
          <p:cNvSpPr/>
          <p:nvPr/>
        </p:nvSpPr>
        <p:spPr>
          <a:xfrm>
            <a:off x="1035050" y="5198864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6"/>
          <p:cNvSpPr/>
          <p:nvPr/>
        </p:nvSpPr>
        <p:spPr>
          <a:xfrm>
            <a:off x="1216819" y="5198864"/>
            <a:ext cx="5939592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If ChatGPT matters most, lean on reviews, directory listings and mentions.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6"/>
          <p:cNvSpPr/>
          <p:nvPr/>
        </p:nvSpPr>
        <p:spPr>
          <a:xfrm>
            <a:off x="1035050" y="545345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6"/>
          <p:cNvSpPr/>
          <p:nvPr/>
        </p:nvSpPr>
        <p:spPr>
          <a:xfrm>
            <a:off x="1216819" y="5453459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If AI Overviews matter most, lean on links and the pages they cite. A complete profile goes with both.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36"/>
          <p:cNvCxnSpPr/>
          <p:nvPr/>
        </p:nvCxnSpPr>
        <p:spPr>
          <a:xfrm>
            <a:off x="7705725" y="4970859"/>
            <a:ext cx="0" cy="91559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7" name="Google Shape;1257;p36"/>
          <p:cNvSpPr/>
          <p:nvPr/>
        </p:nvSpPr>
        <p:spPr>
          <a:xfrm>
            <a:off x="7937500" y="4970859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6"/>
          <p:cNvSpPr/>
          <p:nvPr/>
        </p:nvSpPr>
        <p:spPr>
          <a:xfrm>
            <a:off x="7937500" y="5204520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Category, site fit and chain status go with visibility on both.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DIDN’T MATTER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7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Popular Tactics That Showed No Difference.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7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“No clear difference” means the gap is small enough that it could be chance. It is not proof of no effect.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7"/>
          <p:cNvSpPr/>
          <p:nvPr/>
        </p:nvSpPr>
        <p:spPr>
          <a:xfrm>
            <a:off x="815975" y="1646932"/>
            <a:ext cx="3397250" cy="2589312"/>
          </a:xfrm>
          <a:prstGeom prst="roundRect">
            <a:avLst>
              <a:gd fmla="val 2820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7"/>
          <p:cNvSpPr/>
          <p:nvPr/>
        </p:nvSpPr>
        <p:spPr>
          <a:xfrm>
            <a:off x="1073150" y="1878707"/>
            <a:ext cx="296938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SOCIAL LINKS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7"/>
          <p:cNvSpPr/>
          <p:nvPr/>
        </p:nvSpPr>
        <p:spPr>
          <a:xfrm>
            <a:off x="1073150" y="2193627"/>
            <a:ext cx="296938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Facebook and Instagram Links From Your Website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7"/>
          <p:cNvSpPr/>
          <p:nvPr/>
        </p:nvSpPr>
        <p:spPr>
          <a:xfrm>
            <a:off x="1073150" y="3209627"/>
            <a:ext cx="296938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No clear difference for AI Overviews or ChatGPT.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7"/>
          <p:cNvSpPr/>
          <p:nvPr/>
        </p:nvSpPr>
        <p:spPr>
          <a:xfrm>
            <a:off x="1073150" y="3773388"/>
            <a:ext cx="296938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Small gaps for Maps and Organic.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7"/>
          <p:cNvSpPr/>
          <p:nvPr/>
        </p:nvSpPr>
        <p:spPr>
          <a:xfrm>
            <a:off x="4397375" y="1646932"/>
            <a:ext cx="3397250" cy="2589312"/>
          </a:xfrm>
          <a:prstGeom prst="roundRect">
            <a:avLst>
              <a:gd fmla="val 2820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7"/>
          <p:cNvSpPr/>
          <p:nvPr/>
        </p:nvSpPr>
        <p:spPr>
          <a:xfrm>
            <a:off x="4654550" y="1878707"/>
            <a:ext cx="296938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LINK TOOLS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7"/>
          <p:cNvSpPr/>
          <p:nvPr/>
        </p:nvSpPr>
        <p:spPr>
          <a:xfrm>
            <a:off x="4654550" y="2193627"/>
            <a:ext cx="296938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Link-Building Tool Networks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/>
          <p:nvPr/>
        </p:nvSpPr>
        <p:spPr>
          <a:xfrm>
            <a:off x="4654550" y="2904827"/>
            <a:ext cx="296938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SEO NEO goes slightly against ChatGPT: −1.9 points.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7"/>
          <p:cNvSpPr/>
          <p:nvPr/>
        </p:nvSpPr>
        <p:spPr>
          <a:xfrm>
            <a:off x="4654550" y="3468588"/>
            <a:ext cx="296938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Money Robot and RankerX: no clear difference.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7"/>
          <p:cNvSpPr/>
          <p:nvPr/>
        </p:nvSpPr>
        <p:spPr>
          <a:xfrm>
            <a:off x="7978775" y="1646932"/>
            <a:ext cx="3397250" cy="2589312"/>
          </a:xfrm>
          <a:prstGeom prst="roundRect">
            <a:avLst>
              <a:gd fmla="val 2820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7"/>
          <p:cNvSpPr/>
          <p:nvPr/>
        </p:nvSpPr>
        <p:spPr>
          <a:xfrm>
            <a:off x="8235950" y="1878707"/>
            <a:ext cx="296938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REVIEWS SITES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7"/>
          <p:cNvSpPr/>
          <p:nvPr/>
        </p:nvSpPr>
        <p:spPr>
          <a:xfrm>
            <a:off x="8235950" y="2193627"/>
            <a:ext cx="296938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000"/>
              <a:buFont typeface="Manrope"/>
              <a:buNone/>
            </a:pPr>
            <a:r>
              <a:rPr lang="en-US" sz="20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 Trustpilot Page for Your Business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7"/>
          <p:cNvSpPr/>
          <p:nvPr/>
        </p:nvSpPr>
        <p:spPr>
          <a:xfrm>
            <a:off x="8235950" y="2904827"/>
            <a:ext cx="296938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8.9% of AI-named businesses have one, against 8.0% of those in neither.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7"/>
          <p:cNvSpPr/>
          <p:nvPr/>
        </p:nvSpPr>
        <p:spPr>
          <a:xfrm>
            <a:off x="8235950" y="3468588"/>
            <a:ext cx="296938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Median rating on those pages: 2.6 stars.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7"/>
          <p:cNvSpPr/>
          <p:nvPr/>
        </p:nvSpPr>
        <p:spPr>
          <a:xfrm>
            <a:off x="815975" y="4369594"/>
            <a:ext cx="10560050" cy="742255"/>
          </a:xfrm>
          <a:prstGeom prst="roundRect">
            <a:avLst>
              <a:gd fmla="val 9838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7"/>
          <p:cNvSpPr/>
          <p:nvPr/>
        </p:nvSpPr>
        <p:spPr>
          <a:xfrm>
            <a:off x="1035050" y="4512469"/>
            <a:ext cx="1042555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7"/>
          <p:cNvSpPr/>
          <p:nvPr/>
        </p:nvSpPr>
        <p:spPr>
          <a:xfrm>
            <a:off x="1035050" y="474612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7"/>
          <p:cNvSpPr/>
          <p:nvPr/>
        </p:nvSpPr>
        <p:spPr>
          <a:xfrm>
            <a:off x="1216819" y="4746129"/>
            <a:ext cx="686333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Put reviews, your profile and site clarity ahead of social links, link tools and Trustpilot.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3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TRY IT ON YOUR OWN BUSINESS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8"/>
          <p:cNvSpPr/>
          <p:nvPr/>
        </p:nvSpPr>
        <p:spPr>
          <a:xfrm>
            <a:off x="812800" y="10896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In This Order: What to Check on Your Own Business.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8"/>
          <p:cNvSpPr/>
          <p:nvPr/>
        </p:nvSpPr>
        <p:spPr>
          <a:xfrm>
            <a:off x="812800" y="1803698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38"/>
          <p:cNvSpPr/>
          <p:nvPr/>
        </p:nvSpPr>
        <p:spPr>
          <a:xfrm>
            <a:off x="1346200" y="1707257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Check Where You Stand.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8"/>
          <p:cNvSpPr/>
          <p:nvPr/>
        </p:nvSpPr>
        <p:spPr>
          <a:xfrm>
            <a:off x="1346200" y="1973957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Search your service and city in ChatGPT and Google. Are you named? Are you in the Maps top 3? Note who 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38"/>
          <p:cNvCxnSpPr/>
          <p:nvPr/>
        </p:nvCxnSpPr>
        <p:spPr>
          <a:xfrm>
            <a:off x="812800" y="2246313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9" name="Google Shape;1299;p38"/>
          <p:cNvSpPr/>
          <p:nvPr/>
        </p:nvSpPr>
        <p:spPr>
          <a:xfrm>
            <a:off x="812800" y="2409428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8"/>
          <p:cNvSpPr/>
          <p:nvPr/>
        </p:nvSpPr>
        <p:spPr>
          <a:xfrm>
            <a:off x="1346200" y="2312988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Reviews First.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8"/>
          <p:cNvSpPr/>
          <p:nvPr/>
        </p:nvSpPr>
        <p:spPr>
          <a:xfrm>
            <a:off x="1346200" y="2579688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Compare your total and last-90-day counts with the businesses AI names. Ask after every job.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2" name="Google Shape;1302;p38"/>
          <p:cNvCxnSpPr/>
          <p:nvPr/>
        </p:nvCxnSpPr>
        <p:spPr>
          <a:xfrm>
            <a:off x="812800" y="2852043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38"/>
          <p:cNvSpPr/>
          <p:nvPr/>
        </p:nvSpPr>
        <p:spPr>
          <a:xfrm>
            <a:off x="812800" y="3015159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8"/>
          <p:cNvSpPr/>
          <p:nvPr/>
        </p:nvSpPr>
        <p:spPr>
          <a:xfrm>
            <a:off x="1346200" y="2918718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Fix Your Category and Profile.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8"/>
          <p:cNvSpPr/>
          <p:nvPr/>
        </p:nvSpPr>
        <p:spPr>
          <a:xfrm>
            <a:off x="1346200" y="3185418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Primary category = the service people search. Description and posts answer customer questions.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6" name="Google Shape;1306;p38"/>
          <p:cNvCxnSpPr/>
          <p:nvPr/>
        </p:nvCxnSpPr>
        <p:spPr>
          <a:xfrm>
            <a:off x="812800" y="3457773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7" name="Google Shape;1307;p38"/>
          <p:cNvSpPr/>
          <p:nvPr/>
        </p:nvSpPr>
        <p:spPr>
          <a:xfrm>
            <a:off x="812800" y="3620889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8"/>
          <p:cNvSpPr/>
          <p:nvPr/>
        </p:nvSpPr>
        <p:spPr>
          <a:xfrm>
            <a:off x="1346200" y="3524448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Match Your Site to Your Category.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8"/>
          <p:cNvSpPr/>
          <p:nvPr/>
        </p:nvSpPr>
        <p:spPr>
          <a:xfrm>
            <a:off x="1346200" y="3791148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Service pages built around it. Fold or remove off-topic pages.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38"/>
          <p:cNvCxnSpPr/>
          <p:nvPr/>
        </p:nvCxnSpPr>
        <p:spPr>
          <a:xfrm>
            <a:off x="812800" y="4063504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1" name="Google Shape;1311;p38"/>
          <p:cNvSpPr/>
          <p:nvPr/>
        </p:nvSpPr>
        <p:spPr>
          <a:xfrm>
            <a:off x="812800" y="422662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8"/>
          <p:cNvSpPr/>
          <p:nvPr/>
        </p:nvSpPr>
        <p:spPr>
          <a:xfrm>
            <a:off x="1346200" y="4130179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Get Named on More Pages.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8"/>
          <p:cNvSpPr/>
          <p:nvPr/>
        </p:nvSpPr>
        <p:spPr>
          <a:xfrm>
            <a:off x="1346200" y="4396879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Find the “best [service] in [city]” lists and the directories in your niche. Claim your BBB profile.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4" name="Google Shape;1314;p38"/>
          <p:cNvCxnSpPr/>
          <p:nvPr/>
        </p:nvCxnSpPr>
        <p:spPr>
          <a:xfrm>
            <a:off x="812800" y="4669234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5" name="Google Shape;1315;p38"/>
          <p:cNvSpPr/>
          <p:nvPr/>
        </p:nvSpPr>
        <p:spPr>
          <a:xfrm>
            <a:off x="812800" y="4832350"/>
            <a:ext cx="40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2200"/>
              <a:buFont typeface="Manrope"/>
              <a:buNone/>
            </a:pPr>
            <a:r>
              <a:rPr b="1" lang="en-US" sz="22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8"/>
          <p:cNvSpPr/>
          <p:nvPr/>
        </p:nvSpPr>
        <p:spPr>
          <a:xfrm>
            <a:off x="1346200" y="4735909"/>
            <a:ext cx="1033399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600"/>
              <a:buFont typeface="Manrope"/>
              <a:buNone/>
            </a:pPr>
            <a:r>
              <a:rPr lang="en-US" sz="1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Several Locations? Give Each Its Own Page and Profile.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8"/>
          <p:cNvSpPr/>
          <p:nvPr/>
        </p:nvSpPr>
        <p:spPr>
          <a:xfrm>
            <a:off x="1346200" y="5002609"/>
            <a:ext cx="10333990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 test to run: chain pages are one possible reason for the gap.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8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F3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9"/>
          <p:cNvSpPr/>
          <p:nvPr/>
        </p:nvSpPr>
        <p:spPr>
          <a:xfrm>
            <a:off x="812800" y="2288877"/>
            <a:ext cx="70637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ADDENDUM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9"/>
          <p:cNvSpPr/>
          <p:nvPr/>
        </p:nvSpPr>
        <p:spPr>
          <a:xfrm>
            <a:off x="812800" y="2616498"/>
            <a:ext cx="706374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What AI Reads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9"/>
          <p:cNvSpPr/>
          <p:nvPr/>
        </p:nvSpPr>
        <p:spPr>
          <a:xfrm>
            <a:off x="812800" y="3224500"/>
            <a:ext cx="5516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That Maps Doesn’t.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9"/>
          <p:cNvSpPr/>
          <p:nvPr/>
        </p:nvSpPr>
        <p:spPr>
          <a:xfrm>
            <a:off x="812800" y="3832523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Reddit and Facebook. Mostly AI Overview data, compared with the baseline group, not with Maps ranks.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9"/>
          <p:cNvSpPr/>
          <p:nvPr/>
        </p:nvSpPr>
        <p:spPr>
          <a:xfrm>
            <a:off x="9537700" y="12827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9"/>
          <p:cNvSpPr/>
          <p:nvPr/>
        </p:nvSpPr>
        <p:spPr>
          <a:xfrm>
            <a:off x="9677400" y="25502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Reddit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39"/>
          <p:cNvSpPr/>
          <p:nvPr/>
        </p:nvSpPr>
        <p:spPr>
          <a:xfrm>
            <a:off x="8045450" y="18542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39"/>
          <p:cNvSpPr/>
          <p:nvPr/>
        </p:nvSpPr>
        <p:spPr>
          <a:xfrm>
            <a:off x="8185150" y="27407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Facebook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9"/>
          <p:cNvSpPr/>
          <p:nvPr/>
        </p:nvSpPr>
        <p:spPr>
          <a:xfrm>
            <a:off x="9537700" y="31559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B87EC4">
                  <a:alpha val="87843"/>
                </a:srgbClr>
              </a:gs>
              <a:gs pos="100000">
                <a:srgbClr val="9B5BA5">
                  <a:alpha val="50196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9"/>
          <p:cNvSpPr/>
          <p:nvPr/>
        </p:nvSpPr>
        <p:spPr>
          <a:xfrm>
            <a:off x="10750550" y="31559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B87EC4">
                  <a:alpha val="61961"/>
                </a:srgbClr>
              </a:gs>
              <a:gs pos="100000">
                <a:srgbClr val="9B5BA5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9"/>
          <p:cNvSpPr/>
          <p:nvPr/>
        </p:nvSpPr>
        <p:spPr>
          <a:xfrm>
            <a:off x="8045450" y="33464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B87EC4">
                  <a:alpha val="61961"/>
                </a:srgbClr>
              </a:gs>
              <a:gs pos="100000">
                <a:srgbClr val="9B5BA5">
                  <a:alpha val="3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40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SOCIAL AND COMMUNITY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40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One in Three AI Overview Answers Cites a Social Media Site.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40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Reddit and Facebook are 84% of those citations. AI reading them is separate from whether being named there helps.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0"/>
          <p:cNvSpPr/>
          <p:nvPr/>
        </p:nvSpPr>
        <p:spPr>
          <a:xfrm>
            <a:off x="812800" y="1643757"/>
            <a:ext cx="10566400" cy="2185392"/>
          </a:xfrm>
          <a:prstGeom prst="roundRect">
            <a:avLst>
              <a:gd fmla="val 3487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40"/>
          <p:cNvSpPr/>
          <p:nvPr/>
        </p:nvSpPr>
        <p:spPr>
          <a:xfrm>
            <a:off x="1092200" y="1821557"/>
            <a:ext cx="5860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SHARE OF AI OVERVIEW ANSWERS CITING EACH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40"/>
          <p:cNvSpPr/>
          <p:nvPr/>
        </p:nvSpPr>
        <p:spPr>
          <a:xfrm>
            <a:off x="1092200" y="214471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Reddit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0"/>
          <p:cNvSpPr/>
          <p:nvPr/>
        </p:nvSpPr>
        <p:spPr>
          <a:xfrm>
            <a:off x="3454400" y="2201168"/>
            <a:ext cx="323215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40"/>
          <p:cNvSpPr/>
          <p:nvPr/>
        </p:nvSpPr>
        <p:spPr>
          <a:xfrm>
            <a:off x="6813550" y="2136477"/>
            <a:ext cx="62309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19.59%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40"/>
          <p:cNvCxnSpPr/>
          <p:nvPr/>
        </p:nvCxnSpPr>
        <p:spPr>
          <a:xfrm>
            <a:off x="1092200" y="247233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9" name="Google Shape;1349;p40"/>
          <p:cNvSpPr/>
          <p:nvPr/>
        </p:nvSpPr>
        <p:spPr>
          <a:xfrm>
            <a:off x="1092200" y="257264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Facebook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0"/>
          <p:cNvSpPr/>
          <p:nvPr/>
        </p:nvSpPr>
        <p:spPr>
          <a:xfrm>
            <a:off x="3454400" y="2629098"/>
            <a:ext cx="193040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0"/>
          <p:cNvSpPr/>
          <p:nvPr/>
        </p:nvSpPr>
        <p:spPr>
          <a:xfrm>
            <a:off x="5511800" y="2564408"/>
            <a:ext cx="54808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11.71%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40"/>
          <p:cNvCxnSpPr/>
          <p:nvPr/>
        </p:nvCxnSpPr>
        <p:spPr>
          <a:xfrm>
            <a:off x="1092200" y="2900263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3" name="Google Shape;1353;p40"/>
          <p:cNvSpPr/>
          <p:nvPr/>
        </p:nvSpPr>
        <p:spPr>
          <a:xfrm>
            <a:off x="1092200" y="300057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YouTube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40"/>
          <p:cNvSpPr/>
          <p:nvPr/>
        </p:nvSpPr>
        <p:spPr>
          <a:xfrm>
            <a:off x="3454400" y="3057029"/>
            <a:ext cx="65405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0"/>
          <p:cNvSpPr/>
          <p:nvPr/>
        </p:nvSpPr>
        <p:spPr>
          <a:xfrm>
            <a:off x="4235450" y="2992338"/>
            <a:ext cx="54500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3.95%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6" name="Google Shape;1356;p40"/>
          <p:cNvCxnSpPr/>
          <p:nvPr/>
        </p:nvCxnSpPr>
        <p:spPr>
          <a:xfrm>
            <a:off x="1092200" y="3328194"/>
            <a:ext cx="100076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7" name="Google Shape;1357;p40"/>
          <p:cNvSpPr/>
          <p:nvPr/>
        </p:nvSpPr>
        <p:spPr>
          <a:xfrm>
            <a:off x="1092200" y="3428504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Instagram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40"/>
          <p:cNvSpPr/>
          <p:nvPr/>
        </p:nvSpPr>
        <p:spPr>
          <a:xfrm>
            <a:off x="3454400" y="3484959"/>
            <a:ext cx="349250" cy="101600"/>
          </a:xfrm>
          <a:prstGeom prst="roundRect">
            <a:avLst>
              <a:gd fmla="val 50000" name="adj"/>
            </a:avLst>
          </a:prstGeom>
          <a:solidFill>
            <a:srgbClr val="4B55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40"/>
          <p:cNvSpPr/>
          <p:nvPr/>
        </p:nvSpPr>
        <p:spPr>
          <a:xfrm>
            <a:off x="3930650" y="3420269"/>
            <a:ext cx="40044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4B5563"/>
                </a:solidFill>
                <a:latin typeface="Manrope"/>
                <a:ea typeface="Manrope"/>
                <a:cs typeface="Manrope"/>
                <a:sym typeface="Manrope"/>
              </a:rPr>
              <a:t>2.1%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40"/>
          <p:cNvSpPr/>
          <p:nvPr/>
        </p:nvSpPr>
        <p:spPr>
          <a:xfrm>
            <a:off x="815975" y="3959324"/>
            <a:ext cx="10560050" cy="1226046"/>
          </a:xfrm>
          <a:prstGeom prst="roundRect">
            <a:avLst>
              <a:gd fmla="val 5956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0"/>
          <p:cNvSpPr/>
          <p:nvPr/>
        </p:nvSpPr>
        <p:spPr>
          <a:xfrm>
            <a:off x="1035050" y="4102199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40"/>
          <p:cNvSpPr/>
          <p:nvPr/>
        </p:nvSpPr>
        <p:spPr>
          <a:xfrm>
            <a:off x="1035050" y="4335859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40"/>
          <p:cNvSpPr/>
          <p:nvPr/>
        </p:nvSpPr>
        <p:spPr>
          <a:xfrm>
            <a:off x="1216819" y="4335859"/>
            <a:ext cx="6343365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Find the Reddit threads and Facebook groups AI cites for your service and city.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0"/>
          <p:cNvSpPr/>
          <p:nvPr/>
        </p:nvSpPr>
        <p:spPr>
          <a:xfrm>
            <a:off x="1035050" y="459680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40"/>
          <p:cNvSpPr/>
          <p:nvPr/>
        </p:nvSpPr>
        <p:spPr>
          <a:xfrm>
            <a:off x="1216819" y="4596805"/>
            <a:ext cx="644484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See who gets recommended and see if you can recommend yourself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6" name="Google Shape;1366;p40"/>
          <p:cNvCxnSpPr/>
          <p:nvPr/>
        </p:nvCxnSpPr>
        <p:spPr>
          <a:xfrm>
            <a:off x="7705725" y="4102199"/>
            <a:ext cx="0" cy="940296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7" name="Google Shape;1367;p40"/>
          <p:cNvSpPr/>
          <p:nvPr/>
        </p:nvSpPr>
        <p:spPr>
          <a:xfrm>
            <a:off x="7937500" y="4102199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40"/>
          <p:cNvSpPr/>
          <p:nvPr/>
        </p:nvSpPr>
        <p:spPr>
          <a:xfrm>
            <a:off x="7937500" y="4335859"/>
            <a:ext cx="3316034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Are you mentioned in the threads AI cites?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1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REDDIT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41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AI Overviews Mostly Paraphrase Reddit or Quote a Reply.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1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Only about 2% of Reddit citations quote the original post.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1"/>
          <p:cNvSpPr/>
          <p:nvPr/>
        </p:nvSpPr>
        <p:spPr>
          <a:xfrm>
            <a:off x="812800" y="1643757"/>
            <a:ext cx="5143500" cy="2613323"/>
          </a:xfrm>
          <a:prstGeom prst="roundRect">
            <a:avLst>
              <a:gd fmla="val 2916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1"/>
          <p:cNvSpPr/>
          <p:nvPr/>
        </p:nvSpPr>
        <p:spPr>
          <a:xfrm>
            <a:off x="1041400" y="1821557"/>
            <a:ext cx="368659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WHAT THE REDDIT CITATION QUOTES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1"/>
          <p:cNvSpPr/>
          <p:nvPr/>
        </p:nvSpPr>
        <p:spPr>
          <a:xfrm>
            <a:off x="1041400" y="214471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Google’s own paraphrase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1"/>
          <p:cNvSpPr/>
          <p:nvPr/>
        </p:nvSpPr>
        <p:spPr>
          <a:xfrm>
            <a:off x="3403600" y="2201168"/>
            <a:ext cx="1625600" cy="101600"/>
          </a:xfrm>
          <a:prstGeom prst="roundRect">
            <a:avLst>
              <a:gd fmla="val 50000" name="adj"/>
            </a:avLst>
          </a:prstGeom>
          <a:solidFill>
            <a:srgbClr val="D4A5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1"/>
          <p:cNvSpPr/>
          <p:nvPr/>
        </p:nvSpPr>
        <p:spPr>
          <a:xfrm>
            <a:off x="5156200" y="2136477"/>
            <a:ext cx="46454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51.1%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3" name="Google Shape;1383;p41"/>
          <p:cNvCxnSpPr/>
          <p:nvPr/>
        </p:nvCxnSpPr>
        <p:spPr>
          <a:xfrm>
            <a:off x="1041400" y="2472333"/>
            <a:ext cx="46863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41"/>
          <p:cNvSpPr/>
          <p:nvPr/>
        </p:nvSpPr>
        <p:spPr>
          <a:xfrm>
            <a:off x="1041400" y="257264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 top-level reply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1"/>
          <p:cNvSpPr/>
          <p:nvPr/>
        </p:nvSpPr>
        <p:spPr>
          <a:xfrm>
            <a:off x="3403600" y="2629098"/>
            <a:ext cx="1263650" cy="101600"/>
          </a:xfrm>
          <a:prstGeom prst="roundRect">
            <a:avLst>
              <a:gd fmla="val 50000" name="adj"/>
            </a:avLst>
          </a:prstGeom>
          <a:solidFill>
            <a:srgbClr val="7889B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41"/>
          <p:cNvSpPr/>
          <p:nvPr/>
        </p:nvSpPr>
        <p:spPr>
          <a:xfrm>
            <a:off x="4794250" y="2564408"/>
            <a:ext cx="55006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889B7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7889B7"/>
                </a:solidFill>
                <a:latin typeface="Manrope"/>
                <a:ea typeface="Manrope"/>
                <a:cs typeface="Manrope"/>
                <a:sym typeface="Manrope"/>
              </a:rPr>
              <a:t>39.9%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7" name="Google Shape;1387;p41"/>
          <p:cNvCxnSpPr/>
          <p:nvPr/>
        </p:nvCxnSpPr>
        <p:spPr>
          <a:xfrm>
            <a:off x="1041400" y="2900263"/>
            <a:ext cx="46863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8" name="Google Shape;1388;p41"/>
          <p:cNvSpPr/>
          <p:nvPr/>
        </p:nvSpPr>
        <p:spPr>
          <a:xfrm>
            <a:off x="1041400" y="3000573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Not matched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41"/>
          <p:cNvSpPr/>
          <p:nvPr/>
        </p:nvSpPr>
        <p:spPr>
          <a:xfrm>
            <a:off x="3403600" y="3057029"/>
            <a:ext cx="152400" cy="101600"/>
          </a:xfrm>
          <a:prstGeom prst="roundRect">
            <a:avLst>
              <a:gd fmla="val 50000" name="adj"/>
            </a:avLst>
          </a:prstGeom>
          <a:solidFill>
            <a:srgbClr val="4B55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1"/>
          <p:cNvSpPr/>
          <p:nvPr/>
        </p:nvSpPr>
        <p:spPr>
          <a:xfrm>
            <a:off x="3683000" y="2992338"/>
            <a:ext cx="44787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4B5563"/>
                </a:solidFill>
                <a:latin typeface="Manrope"/>
                <a:ea typeface="Manrope"/>
                <a:cs typeface="Manrope"/>
                <a:sym typeface="Manrope"/>
              </a:rPr>
              <a:t>4.8%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41"/>
          <p:cNvCxnSpPr/>
          <p:nvPr/>
        </p:nvCxnSpPr>
        <p:spPr>
          <a:xfrm>
            <a:off x="1041400" y="3328194"/>
            <a:ext cx="46863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2" name="Google Shape;1392;p41"/>
          <p:cNvSpPr/>
          <p:nvPr/>
        </p:nvSpPr>
        <p:spPr>
          <a:xfrm>
            <a:off x="1041400" y="3428504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original post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1"/>
          <p:cNvSpPr/>
          <p:nvPr/>
        </p:nvSpPr>
        <p:spPr>
          <a:xfrm>
            <a:off x="3403600" y="3484959"/>
            <a:ext cx="76200" cy="101600"/>
          </a:xfrm>
          <a:prstGeom prst="roundRect">
            <a:avLst>
              <a:gd fmla="val 50000" name="adj"/>
            </a:avLst>
          </a:prstGeom>
          <a:solidFill>
            <a:srgbClr val="B87E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1"/>
          <p:cNvSpPr/>
          <p:nvPr/>
        </p:nvSpPr>
        <p:spPr>
          <a:xfrm>
            <a:off x="3606800" y="3420269"/>
            <a:ext cx="44390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7EC4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B87EC4"/>
                </a:solidFill>
                <a:latin typeface="Manrope"/>
                <a:ea typeface="Manrope"/>
                <a:cs typeface="Manrope"/>
                <a:sym typeface="Manrope"/>
              </a:rPr>
              <a:t>2.3%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5" name="Google Shape;1395;p41"/>
          <p:cNvCxnSpPr/>
          <p:nvPr/>
        </p:nvCxnSpPr>
        <p:spPr>
          <a:xfrm>
            <a:off x="1041400" y="3756124"/>
            <a:ext cx="4686300" cy="0"/>
          </a:xfrm>
          <a:prstGeom prst="straightConnector1">
            <a:avLst/>
          </a:prstGeom>
          <a:noFill/>
          <a:ln cap="flat" cmpd="sng" w="9525">
            <a:solidFill>
              <a:srgbClr val="2626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6" name="Google Shape;1396;p41"/>
          <p:cNvSpPr/>
          <p:nvPr/>
        </p:nvSpPr>
        <p:spPr>
          <a:xfrm>
            <a:off x="1041400" y="3856434"/>
            <a:ext cx="2223770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 reply to a comment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41"/>
          <p:cNvSpPr/>
          <p:nvPr/>
        </p:nvSpPr>
        <p:spPr>
          <a:xfrm>
            <a:off x="3403600" y="3912890"/>
            <a:ext cx="57150" cy="101600"/>
          </a:xfrm>
          <a:prstGeom prst="roundRect">
            <a:avLst>
              <a:gd fmla="val 50000" name="adj"/>
            </a:avLst>
          </a:prstGeom>
          <a:solidFill>
            <a:srgbClr val="C9CD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1"/>
          <p:cNvSpPr/>
          <p:nvPr/>
        </p:nvSpPr>
        <p:spPr>
          <a:xfrm>
            <a:off x="3587750" y="3848199"/>
            <a:ext cx="41790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3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C9CDD3"/>
                </a:solidFill>
                <a:latin typeface="Manrope"/>
                <a:ea typeface="Manrope"/>
                <a:cs typeface="Manrope"/>
                <a:sym typeface="Manrope"/>
              </a:rPr>
              <a:t>1.9%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41"/>
          <p:cNvSpPr/>
          <p:nvPr/>
        </p:nvSpPr>
        <p:spPr>
          <a:xfrm>
            <a:off x="6134100" y="1643757"/>
            <a:ext cx="5245100" cy="2613323"/>
          </a:xfrm>
          <a:prstGeom prst="roundRect">
            <a:avLst>
              <a:gd fmla="val 2916" name="adj"/>
            </a:avLst>
          </a:prstGeom>
          <a:solidFill>
            <a:srgbClr val="0F0F12"/>
          </a:solidFill>
          <a:ln>
            <a:noFill/>
          </a:ln>
          <a:effectLst>
            <a:outerShdw blurRad="304800" rotWithShape="0" algn="bl" dir="5400000" dist="152400">
              <a:srgbClr val="0F0F12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1"/>
          <p:cNvSpPr/>
          <p:nvPr/>
        </p:nvSpPr>
        <p:spPr>
          <a:xfrm>
            <a:off x="6413500" y="1872357"/>
            <a:ext cx="482688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IS THE QUOTED REPLY THE TOP-VOTED ONE?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1"/>
          <p:cNvSpPr/>
          <p:nvPr/>
        </p:nvSpPr>
        <p:spPr>
          <a:xfrm>
            <a:off x="6413500" y="2236788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18%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1"/>
          <p:cNvSpPr/>
          <p:nvPr/>
        </p:nvSpPr>
        <p:spPr>
          <a:xfrm>
            <a:off x="7861300" y="2225377"/>
            <a:ext cx="3335655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are the top-voted reply, against about 4.5% by chance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41"/>
          <p:cNvSpPr/>
          <p:nvPr/>
        </p:nvSpPr>
        <p:spPr>
          <a:xfrm>
            <a:off x="6413500" y="2845098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D4A54A"/>
                </a:solidFill>
                <a:latin typeface="Manrope"/>
                <a:ea typeface="Manrope"/>
                <a:cs typeface="Manrope"/>
                <a:sym typeface="Manrope"/>
              </a:rPr>
              <a:t>40%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41"/>
          <p:cNvSpPr/>
          <p:nvPr/>
        </p:nvSpPr>
        <p:spPr>
          <a:xfrm>
            <a:off x="7861300" y="2953643"/>
            <a:ext cx="2992994" cy="26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are in the top 3, against about 13%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1"/>
          <p:cNvSpPr/>
          <p:nvPr/>
        </p:nvSpPr>
        <p:spPr>
          <a:xfrm>
            <a:off x="815975" y="4387255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1"/>
          <p:cNvSpPr/>
          <p:nvPr/>
        </p:nvSpPr>
        <p:spPr>
          <a:xfrm>
            <a:off x="1035050" y="4530130"/>
            <a:ext cx="1042555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41"/>
          <p:cNvSpPr/>
          <p:nvPr/>
        </p:nvSpPr>
        <p:spPr>
          <a:xfrm>
            <a:off x="1035050" y="4763790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41"/>
          <p:cNvSpPr/>
          <p:nvPr/>
        </p:nvSpPr>
        <p:spPr>
          <a:xfrm>
            <a:off x="1216819" y="4763790"/>
            <a:ext cx="6285114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Read the Reddit threads cited for your search: the replies are what get quoted.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41"/>
          <p:cNvSpPr/>
          <p:nvPr/>
        </p:nvSpPr>
        <p:spPr>
          <a:xfrm>
            <a:off x="1035050" y="5024735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1"/>
          <p:cNvSpPr/>
          <p:nvPr/>
        </p:nvSpPr>
        <p:spPr>
          <a:xfrm>
            <a:off x="1216819" y="5024735"/>
            <a:ext cx="4345242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See who is being recommended, and whether it’s you.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1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42"/>
          <p:cNvSpPr/>
          <p:nvPr/>
        </p:nvSpPr>
        <p:spPr>
          <a:xfrm>
            <a:off x="812800" y="5334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FACEBOOK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42"/>
          <p:cNvSpPr/>
          <p:nvPr/>
        </p:nvSpPr>
        <p:spPr>
          <a:xfrm>
            <a:off x="812800" y="810220"/>
            <a:ext cx="10883392" cy="4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2600"/>
              <a:buFont typeface="Manrope"/>
              <a:buNone/>
            </a:pPr>
            <a:r>
              <a:rPr lang="en-US" sz="2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On Facebook, AI Overviews Cite People Asking for Recommendations.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42"/>
          <p:cNvSpPr/>
          <p:nvPr/>
        </p:nvSpPr>
        <p:spPr>
          <a:xfrm>
            <a:off x="812800" y="1250057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And a small extra: a business named in a cited post is a bit more often in the answer’s business cards.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42"/>
          <p:cNvSpPr/>
          <p:nvPr/>
        </p:nvSpPr>
        <p:spPr>
          <a:xfrm>
            <a:off x="815975" y="1646932"/>
            <a:ext cx="3397250" cy="1793180"/>
          </a:xfrm>
          <a:prstGeom prst="roundRect">
            <a:avLst>
              <a:gd fmla="val 407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2"/>
          <p:cNvSpPr/>
          <p:nvPr/>
        </p:nvSpPr>
        <p:spPr>
          <a:xfrm>
            <a:off x="1073150" y="1878707"/>
            <a:ext cx="29693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62.0%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42"/>
          <p:cNvSpPr/>
          <p:nvPr/>
        </p:nvSpPr>
        <p:spPr>
          <a:xfrm>
            <a:off x="1073150" y="2412107"/>
            <a:ext cx="2969387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of cited group posts are recommendation requests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42"/>
          <p:cNvSpPr/>
          <p:nvPr/>
        </p:nvSpPr>
        <p:spPr>
          <a:xfrm>
            <a:off x="4397375" y="1646932"/>
            <a:ext cx="3397250" cy="1793180"/>
          </a:xfrm>
          <a:prstGeom prst="roundRect">
            <a:avLst>
              <a:gd fmla="val 407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42"/>
          <p:cNvSpPr/>
          <p:nvPr/>
        </p:nvSpPr>
        <p:spPr>
          <a:xfrm>
            <a:off x="4654550" y="1878707"/>
            <a:ext cx="29693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56.3%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42"/>
          <p:cNvSpPr/>
          <p:nvPr/>
        </p:nvSpPr>
        <p:spPr>
          <a:xfrm>
            <a:off x="4654550" y="2412107"/>
            <a:ext cx="2969387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of cited business-page posts are promotions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2"/>
          <p:cNvSpPr/>
          <p:nvPr/>
        </p:nvSpPr>
        <p:spPr>
          <a:xfrm>
            <a:off x="7978775" y="1646932"/>
            <a:ext cx="3397250" cy="1793180"/>
          </a:xfrm>
          <a:prstGeom prst="roundRect">
            <a:avLst>
              <a:gd fmla="val 4072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2"/>
          <p:cNvSpPr/>
          <p:nvPr/>
        </p:nvSpPr>
        <p:spPr>
          <a:xfrm>
            <a:off x="8235950" y="1878707"/>
            <a:ext cx="296938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3600"/>
              <a:buFont typeface="Manrope"/>
              <a:buNone/>
            </a:pPr>
            <a:r>
              <a:rPr b="1" lang="en-US" sz="36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+6.1 points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2"/>
          <p:cNvSpPr/>
          <p:nvPr/>
        </p:nvSpPr>
        <p:spPr>
          <a:xfrm>
            <a:off x="8235950" y="2412107"/>
            <a:ext cx="2969387" cy="74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more likely to be in the answer’s business cards when named in a cited post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2"/>
          <p:cNvSpPr/>
          <p:nvPr/>
        </p:nvSpPr>
        <p:spPr>
          <a:xfrm>
            <a:off x="815975" y="3573463"/>
            <a:ext cx="10560050" cy="1003201"/>
          </a:xfrm>
          <a:prstGeom prst="roundRect">
            <a:avLst>
              <a:gd fmla="val 7279" name="adj"/>
            </a:avLst>
          </a:prstGeom>
          <a:solidFill>
            <a:srgbClr val="FFFFFF"/>
          </a:solidFill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2"/>
          <p:cNvSpPr/>
          <p:nvPr/>
        </p:nvSpPr>
        <p:spPr>
          <a:xfrm>
            <a:off x="1035050" y="3716337"/>
            <a:ext cx="6632067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WHAT TO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2"/>
          <p:cNvSpPr/>
          <p:nvPr/>
        </p:nvSpPr>
        <p:spPr>
          <a:xfrm>
            <a:off x="1035050" y="3949998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2"/>
          <p:cNvSpPr/>
          <p:nvPr/>
        </p:nvSpPr>
        <p:spPr>
          <a:xfrm>
            <a:off x="1216819" y="3949998"/>
            <a:ext cx="5178747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Find the Facebook group posts AI cites for your service and city.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42"/>
          <p:cNvSpPr/>
          <p:nvPr/>
        </p:nvSpPr>
        <p:spPr>
          <a:xfrm>
            <a:off x="1035050" y="4210943"/>
            <a:ext cx="143669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4A54A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D4A54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42"/>
          <p:cNvSpPr/>
          <p:nvPr/>
        </p:nvSpPr>
        <p:spPr>
          <a:xfrm>
            <a:off x="1216819" y="4210943"/>
            <a:ext cx="527491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F0F12"/>
                </a:solidFill>
                <a:latin typeface="Inter"/>
                <a:ea typeface="Inter"/>
                <a:cs typeface="Inter"/>
                <a:sym typeface="Inter"/>
              </a:rPr>
              <a:t>Keep your own page active: a recent post goes with a small edge.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5" name="Google Shape;1435;p42"/>
          <p:cNvCxnSpPr/>
          <p:nvPr/>
        </p:nvCxnSpPr>
        <p:spPr>
          <a:xfrm>
            <a:off x="7705725" y="3716337"/>
            <a:ext cx="0" cy="717451"/>
          </a:xfrm>
          <a:prstGeom prst="straightConnector1">
            <a:avLst/>
          </a:prstGeom>
          <a:noFill/>
          <a:ln cap="flat" cmpd="sng" w="9525">
            <a:solidFill>
              <a:srgbClr val="DEDE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6" name="Google Shape;1436;p42"/>
          <p:cNvSpPr/>
          <p:nvPr/>
        </p:nvSpPr>
        <p:spPr>
          <a:xfrm>
            <a:off x="7937500" y="3716337"/>
            <a:ext cx="331603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A99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5C6A99"/>
                </a:solidFill>
                <a:latin typeface="Inter"/>
                <a:ea typeface="Inter"/>
                <a:cs typeface="Inter"/>
                <a:sym typeface="Inter"/>
              </a:rPr>
              <a:t>CHECK YOURS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42"/>
          <p:cNvSpPr/>
          <p:nvPr/>
        </p:nvSpPr>
        <p:spPr>
          <a:xfrm>
            <a:off x="7937500" y="3949998"/>
            <a:ext cx="3316034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Are you named in the replies?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5A5D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3"/>
          <p:cNvSpPr/>
          <p:nvPr/>
        </p:nvSpPr>
        <p:spPr>
          <a:xfrm>
            <a:off x="665034" y="622300"/>
            <a:ext cx="1412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92F"/>
              </a:buClr>
              <a:buSzPts val="4800"/>
              <a:buFont typeface="Manrope"/>
              <a:buNone/>
            </a:pPr>
            <a:r>
              <a:rPr b="1" lang="en-US" sz="4800">
                <a:solidFill>
                  <a:srgbClr val="B8892F"/>
                </a:solidFill>
                <a:latin typeface="Manrope"/>
                <a:ea typeface="Manrope"/>
                <a:cs typeface="Manrope"/>
                <a:sym typeface="Manrope"/>
              </a:rPr>
              <a:t>RAIZ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43"/>
          <p:cNvSpPr/>
          <p:nvPr/>
        </p:nvSpPr>
        <p:spPr>
          <a:xfrm>
            <a:off x="965101" y="1257300"/>
            <a:ext cx="151139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200"/>
              <a:buFont typeface="Manrope"/>
              <a:buNone/>
            </a:pPr>
            <a:r>
              <a:rPr lang="en-US" sz="12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VISIBILITY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43"/>
          <p:cNvSpPr/>
          <p:nvPr/>
        </p:nvSpPr>
        <p:spPr>
          <a:xfrm>
            <a:off x="812800" y="2633762"/>
            <a:ext cx="7194550" cy="683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4800"/>
              <a:buFont typeface="Manrope"/>
              <a:buNone/>
            </a:pPr>
            <a:r>
              <a:rPr b="1" lang="en-US" sz="48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Questions.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43"/>
          <p:cNvSpPr/>
          <p:nvPr/>
        </p:nvSpPr>
        <p:spPr>
          <a:xfrm>
            <a:off x="812800" y="3431778"/>
            <a:ext cx="5886450" cy="614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34347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434347"/>
                </a:solidFill>
                <a:latin typeface="Inter"/>
                <a:ea typeface="Inter"/>
                <a:cs typeface="Inter"/>
                <a:sym typeface="Inter"/>
              </a:rPr>
              <a:t>Tag me or Ryan in the chat, don’t DM me.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43"/>
          <p:cNvSpPr/>
          <p:nvPr/>
        </p:nvSpPr>
        <p:spPr>
          <a:xfrm>
            <a:off x="9537700" y="1092200"/>
            <a:ext cx="1625600" cy="1625600"/>
          </a:xfrm>
          <a:prstGeom prst="roundRect">
            <a:avLst>
              <a:gd fmla="val 9375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43"/>
          <p:cNvSpPr/>
          <p:nvPr/>
        </p:nvSpPr>
        <p:spPr>
          <a:xfrm>
            <a:off x="9677400" y="2359720"/>
            <a:ext cx="1447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Reviews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3"/>
          <p:cNvSpPr/>
          <p:nvPr/>
        </p:nvSpPr>
        <p:spPr>
          <a:xfrm>
            <a:off x="8045450" y="1663700"/>
            <a:ext cx="1244600" cy="1244600"/>
          </a:xfrm>
          <a:prstGeom prst="roundRect">
            <a:avLst>
              <a:gd fmla="val 9184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43"/>
          <p:cNvSpPr/>
          <p:nvPr/>
        </p:nvSpPr>
        <p:spPr>
          <a:xfrm>
            <a:off x="8185150" y="2550220"/>
            <a:ext cx="10668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43"/>
          <p:cNvSpPr/>
          <p:nvPr/>
        </p:nvSpPr>
        <p:spPr>
          <a:xfrm>
            <a:off x="9537700" y="2965450"/>
            <a:ext cx="965200" cy="965200"/>
          </a:xfrm>
          <a:prstGeom prst="roundRect">
            <a:avLst>
              <a:gd fmla="val 8553" name="adj"/>
            </a:avLst>
          </a:prstGeom>
          <a:gradFill>
            <a:gsLst>
              <a:gs pos="0">
                <a:srgbClr val="E5BD6A">
                  <a:alpha val="92157"/>
                </a:srgbClr>
              </a:gs>
              <a:gs pos="100000">
                <a:srgbClr val="D4A54A">
                  <a:alpha val="54902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3"/>
          <p:cNvSpPr/>
          <p:nvPr/>
        </p:nvSpPr>
        <p:spPr>
          <a:xfrm>
            <a:off x="9677400" y="3572570"/>
            <a:ext cx="7874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F0F12"/>
                </a:solidFill>
                <a:latin typeface="Manrope"/>
                <a:ea typeface="Manrope"/>
                <a:cs typeface="Manrope"/>
                <a:sym typeface="Manrope"/>
              </a:rPr>
              <a:t>Site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43"/>
          <p:cNvSpPr/>
          <p:nvPr/>
        </p:nvSpPr>
        <p:spPr>
          <a:xfrm>
            <a:off x="10750550" y="2965450"/>
            <a:ext cx="609600" cy="609600"/>
          </a:xfrm>
          <a:prstGeom prst="roundRect">
            <a:avLst>
              <a:gd fmla="val 13542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43"/>
          <p:cNvSpPr/>
          <p:nvPr/>
        </p:nvSpPr>
        <p:spPr>
          <a:xfrm>
            <a:off x="8045450" y="3155950"/>
            <a:ext cx="330200" cy="330200"/>
          </a:xfrm>
          <a:prstGeom prst="roundRect">
            <a:avLst>
              <a:gd fmla="val 25000" name="adj"/>
            </a:avLst>
          </a:prstGeom>
          <a:gradFill>
            <a:gsLst>
              <a:gs pos="0">
                <a:srgbClr val="E5BD6A">
                  <a:alpha val="63922"/>
                </a:srgbClr>
              </a:gs>
              <a:gs pos="100000">
                <a:srgbClr val="D4A54A">
                  <a:alpha val="38039"/>
                </a:srgbClr>
              </a:gs>
            </a:gsLst>
            <a:lin ang="2700000" scaled="0"/>
          </a:gradFill>
          <a:ln cap="flat" cmpd="sng" w="25400">
            <a:solidFill>
              <a:srgbClr val="FFFFFF">
                <a:alpha val="52157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27000">
              <a:srgbClr val="0F0F12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